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6"/>
  </p:notesMasterIdLst>
  <p:sldIdLst>
    <p:sldId id="256" r:id="rId2"/>
    <p:sldId id="257" r:id="rId3"/>
    <p:sldId id="320" r:id="rId4"/>
    <p:sldId id="322" r:id="rId5"/>
    <p:sldId id="258" r:id="rId6"/>
    <p:sldId id="259" r:id="rId7"/>
    <p:sldId id="260" r:id="rId8"/>
    <p:sldId id="315" r:id="rId9"/>
    <p:sldId id="261" r:id="rId10"/>
    <p:sldId id="333" r:id="rId11"/>
    <p:sldId id="337" r:id="rId12"/>
    <p:sldId id="262" r:id="rId13"/>
    <p:sldId id="266" r:id="rId14"/>
    <p:sldId id="316" r:id="rId15"/>
    <p:sldId id="338" r:id="rId16"/>
    <p:sldId id="339" r:id="rId17"/>
    <p:sldId id="334" r:id="rId18"/>
    <p:sldId id="335" r:id="rId19"/>
    <p:sldId id="336" r:id="rId20"/>
    <p:sldId id="263" r:id="rId21"/>
    <p:sldId id="331" r:id="rId22"/>
    <p:sldId id="267" r:id="rId23"/>
    <p:sldId id="268" r:id="rId24"/>
    <p:sldId id="264" r:id="rId25"/>
    <p:sldId id="270" r:id="rId26"/>
    <p:sldId id="329" r:id="rId27"/>
    <p:sldId id="330" r:id="rId28"/>
    <p:sldId id="271" r:id="rId29"/>
    <p:sldId id="272" r:id="rId30"/>
    <p:sldId id="282" r:id="rId31"/>
    <p:sldId id="284" r:id="rId32"/>
    <p:sldId id="323" r:id="rId33"/>
    <p:sldId id="324" r:id="rId34"/>
    <p:sldId id="325" r:id="rId35"/>
    <p:sldId id="326" r:id="rId36"/>
    <p:sldId id="292" r:id="rId37"/>
    <p:sldId id="291" r:id="rId38"/>
    <p:sldId id="293" r:id="rId39"/>
    <p:sldId id="295" r:id="rId40"/>
    <p:sldId id="296" r:id="rId41"/>
    <p:sldId id="297" r:id="rId42"/>
    <p:sldId id="298" r:id="rId43"/>
    <p:sldId id="299" r:id="rId44"/>
    <p:sldId id="327" r:id="rId45"/>
    <p:sldId id="300" r:id="rId46"/>
    <p:sldId id="318" r:id="rId47"/>
    <p:sldId id="305" r:id="rId48"/>
    <p:sldId id="301" r:id="rId49"/>
    <p:sldId id="265" r:id="rId50"/>
    <p:sldId id="302" r:id="rId51"/>
    <p:sldId id="303" r:id="rId52"/>
    <p:sldId id="304" r:id="rId53"/>
    <p:sldId id="269" r:id="rId54"/>
    <p:sldId id="306" r:id="rId55"/>
    <p:sldId id="321" r:id="rId56"/>
    <p:sldId id="319" r:id="rId57"/>
    <p:sldId id="307" r:id="rId58"/>
    <p:sldId id="308" r:id="rId59"/>
    <p:sldId id="309" r:id="rId60"/>
    <p:sldId id="310" r:id="rId61"/>
    <p:sldId id="311" r:id="rId62"/>
    <p:sldId id="332" r:id="rId63"/>
    <p:sldId id="312" r:id="rId64"/>
    <p:sldId id="314" r:id="rId6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58" y="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E50728-50A4-47DA-ACD3-85C31F3B3A57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33BDFF37-F7A8-45E6-B683-CB410116D9D0}">
      <dgm:prSet phldrT="[Text]"/>
      <dgm:spPr/>
      <dgm:t>
        <a:bodyPr/>
        <a:lstStyle/>
        <a:p>
          <a:r>
            <a:rPr lang="en-US" dirty="0"/>
            <a:t>Anomaly Detection + Explanation</a:t>
          </a:r>
          <a:endParaRPr lang="en-CA" dirty="0"/>
        </a:p>
      </dgm:t>
    </dgm:pt>
    <dgm:pt modelId="{2107D49A-EC3A-4ACE-878D-0E406AD74D4C}" type="parTrans" cxnId="{92613C49-0510-454A-A0E0-6CE978E7A4EA}">
      <dgm:prSet/>
      <dgm:spPr/>
      <dgm:t>
        <a:bodyPr/>
        <a:lstStyle/>
        <a:p>
          <a:endParaRPr lang="en-CA"/>
        </a:p>
      </dgm:t>
    </dgm:pt>
    <dgm:pt modelId="{736F68E0-6D78-4A19-B7B3-03957A246E87}" type="sibTrans" cxnId="{92613C49-0510-454A-A0E0-6CE978E7A4EA}">
      <dgm:prSet/>
      <dgm:spPr/>
      <dgm:t>
        <a:bodyPr/>
        <a:lstStyle/>
        <a:p>
          <a:endParaRPr lang="en-CA"/>
        </a:p>
      </dgm:t>
    </dgm:pt>
    <dgm:pt modelId="{E90E3EB3-3BE7-442A-BAD1-BE97779D3488}">
      <dgm:prSet phldrT="[Text]"/>
      <dgm:spPr/>
      <dgm:t>
        <a:bodyPr/>
        <a:lstStyle/>
        <a:p>
          <a:r>
            <a:rPr lang="en-US" dirty="0"/>
            <a:t>Root-Cause /</a:t>
          </a:r>
        </a:p>
        <a:p>
          <a:r>
            <a:rPr lang="en-US" dirty="0"/>
            <a:t>Incident Detection</a:t>
          </a:r>
          <a:endParaRPr lang="en-CA" dirty="0"/>
        </a:p>
      </dgm:t>
    </dgm:pt>
    <dgm:pt modelId="{E82D5850-12C5-41E5-981B-EEDBE40FE757}" type="parTrans" cxnId="{E4B0CDE0-1802-4120-BA27-717AAA34C0CE}">
      <dgm:prSet/>
      <dgm:spPr/>
      <dgm:t>
        <a:bodyPr/>
        <a:lstStyle/>
        <a:p>
          <a:endParaRPr lang="en-CA"/>
        </a:p>
      </dgm:t>
    </dgm:pt>
    <dgm:pt modelId="{A7E9FB8F-1632-4B4B-AC77-2281FD2BF12F}" type="sibTrans" cxnId="{E4B0CDE0-1802-4120-BA27-717AAA34C0CE}">
      <dgm:prSet/>
      <dgm:spPr/>
      <dgm:t>
        <a:bodyPr/>
        <a:lstStyle/>
        <a:p>
          <a:endParaRPr lang="en-CA"/>
        </a:p>
      </dgm:t>
    </dgm:pt>
    <dgm:pt modelId="{2F3277F0-D072-4991-8975-6B96469D454D}">
      <dgm:prSet phldrT="[Text]"/>
      <dgm:spPr/>
      <dgm:t>
        <a:bodyPr/>
        <a:lstStyle/>
        <a:p>
          <a:r>
            <a:rPr lang="en-US" dirty="0"/>
            <a:t>User Interaction and Active Learning</a:t>
          </a:r>
          <a:endParaRPr lang="en-CA" dirty="0"/>
        </a:p>
      </dgm:t>
    </dgm:pt>
    <dgm:pt modelId="{9E846174-C1E9-4D2D-A19C-EC9C93DDBC7E}" type="parTrans" cxnId="{D8E57FCC-E097-4EF0-9B0B-1E865C5BC6D5}">
      <dgm:prSet/>
      <dgm:spPr/>
      <dgm:t>
        <a:bodyPr/>
        <a:lstStyle/>
        <a:p>
          <a:endParaRPr lang="en-CA"/>
        </a:p>
      </dgm:t>
    </dgm:pt>
    <dgm:pt modelId="{E056AC9C-7E60-46CC-AAE4-4202075F2077}" type="sibTrans" cxnId="{D8E57FCC-E097-4EF0-9B0B-1E865C5BC6D5}">
      <dgm:prSet/>
      <dgm:spPr/>
      <dgm:t>
        <a:bodyPr/>
        <a:lstStyle/>
        <a:p>
          <a:endParaRPr lang="en-CA"/>
        </a:p>
      </dgm:t>
    </dgm:pt>
    <dgm:pt modelId="{C822638E-F9C6-4ED4-AFEF-BDA369CFE21C}" type="pres">
      <dgm:prSet presAssocID="{5BE50728-50A4-47DA-ACD3-85C31F3B3A57}" presName="Name0" presStyleCnt="0">
        <dgm:presLayoutVars>
          <dgm:dir/>
          <dgm:resizeHandles val="exact"/>
        </dgm:presLayoutVars>
      </dgm:prSet>
      <dgm:spPr/>
    </dgm:pt>
    <dgm:pt modelId="{9F71FD5D-9807-47CE-ADC0-1252B09783D1}" type="pres">
      <dgm:prSet presAssocID="{33BDFF37-F7A8-45E6-B683-CB410116D9D0}" presName="node" presStyleLbl="node1" presStyleIdx="0" presStyleCnt="3">
        <dgm:presLayoutVars>
          <dgm:bulletEnabled val="1"/>
        </dgm:presLayoutVars>
      </dgm:prSet>
      <dgm:spPr/>
    </dgm:pt>
    <dgm:pt modelId="{33A274FE-617D-405E-8DBE-D989642A92B2}" type="pres">
      <dgm:prSet presAssocID="{736F68E0-6D78-4A19-B7B3-03957A246E87}" presName="sibTrans" presStyleLbl="sibTrans2D1" presStyleIdx="0" presStyleCnt="2"/>
      <dgm:spPr/>
    </dgm:pt>
    <dgm:pt modelId="{91F64677-2173-45A3-A3ED-077C6E3662EF}" type="pres">
      <dgm:prSet presAssocID="{736F68E0-6D78-4A19-B7B3-03957A246E87}" presName="connectorText" presStyleLbl="sibTrans2D1" presStyleIdx="0" presStyleCnt="2"/>
      <dgm:spPr/>
    </dgm:pt>
    <dgm:pt modelId="{F33ECEDD-4191-4BD2-A8E7-0E77FA8A6ABF}" type="pres">
      <dgm:prSet presAssocID="{E90E3EB3-3BE7-442A-BAD1-BE97779D3488}" presName="node" presStyleLbl="node1" presStyleIdx="1" presStyleCnt="3" custScaleX="108552">
        <dgm:presLayoutVars>
          <dgm:bulletEnabled val="1"/>
        </dgm:presLayoutVars>
      </dgm:prSet>
      <dgm:spPr/>
    </dgm:pt>
    <dgm:pt modelId="{3B46C79F-2A05-4763-991D-CEE89839156F}" type="pres">
      <dgm:prSet presAssocID="{A7E9FB8F-1632-4B4B-AC77-2281FD2BF12F}" presName="sibTrans" presStyleLbl="sibTrans2D1" presStyleIdx="1" presStyleCnt="2"/>
      <dgm:spPr/>
    </dgm:pt>
    <dgm:pt modelId="{0B21D7D8-3D67-46F5-B8FE-2C59D5897225}" type="pres">
      <dgm:prSet presAssocID="{A7E9FB8F-1632-4B4B-AC77-2281FD2BF12F}" presName="connectorText" presStyleLbl="sibTrans2D1" presStyleIdx="1" presStyleCnt="2"/>
      <dgm:spPr/>
    </dgm:pt>
    <dgm:pt modelId="{30DB77A5-2FB5-440F-A1E0-2835FE2E4B84}" type="pres">
      <dgm:prSet presAssocID="{2F3277F0-D072-4991-8975-6B96469D454D}" presName="node" presStyleLbl="node1" presStyleIdx="2" presStyleCnt="3">
        <dgm:presLayoutVars>
          <dgm:bulletEnabled val="1"/>
        </dgm:presLayoutVars>
      </dgm:prSet>
      <dgm:spPr/>
    </dgm:pt>
  </dgm:ptLst>
  <dgm:cxnLst>
    <dgm:cxn modelId="{4CD1D504-238C-4AF0-A2C7-A4CECBD92FF2}" type="presOf" srcId="{E90E3EB3-3BE7-442A-BAD1-BE97779D3488}" destId="{F33ECEDD-4191-4BD2-A8E7-0E77FA8A6ABF}" srcOrd="0" destOrd="0" presId="urn:microsoft.com/office/officeart/2005/8/layout/process1"/>
    <dgm:cxn modelId="{C0594144-E6A5-42FE-A042-1A704691AFCE}" type="presOf" srcId="{736F68E0-6D78-4A19-B7B3-03957A246E87}" destId="{91F64677-2173-45A3-A3ED-077C6E3662EF}" srcOrd="1" destOrd="0" presId="urn:microsoft.com/office/officeart/2005/8/layout/process1"/>
    <dgm:cxn modelId="{92613C49-0510-454A-A0E0-6CE978E7A4EA}" srcId="{5BE50728-50A4-47DA-ACD3-85C31F3B3A57}" destId="{33BDFF37-F7A8-45E6-B683-CB410116D9D0}" srcOrd="0" destOrd="0" parTransId="{2107D49A-EC3A-4ACE-878D-0E406AD74D4C}" sibTransId="{736F68E0-6D78-4A19-B7B3-03957A246E87}"/>
    <dgm:cxn modelId="{AA89B06F-0710-4D26-970F-22B3A9856ACE}" type="presOf" srcId="{5BE50728-50A4-47DA-ACD3-85C31F3B3A57}" destId="{C822638E-F9C6-4ED4-AFEF-BDA369CFE21C}" srcOrd="0" destOrd="0" presId="urn:microsoft.com/office/officeart/2005/8/layout/process1"/>
    <dgm:cxn modelId="{CC34D78B-5203-49B1-B7EE-2FF9CAEDB9CA}" type="presOf" srcId="{A7E9FB8F-1632-4B4B-AC77-2281FD2BF12F}" destId="{0B21D7D8-3D67-46F5-B8FE-2C59D5897225}" srcOrd="1" destOrd="0" presId="urn:microsoft.com/office/officeart/2005/8/layout/process1"/>
    <dgm:cxn modelId="{30711B96-F3C8-4907-95DC-3D87A04D0496}" type="presOf" srcId="{2F3277F0-D072-4991-8975-6B96469D454D}" destId="{30DB77A5-2FB5-440F-A1E0-2835FE2E4B84}" srcOrd="0" destOrd="0" presId="urn:microsoft.com/office/officeart/2005/8/layout/process1"/>
    <dgm:cxn modelId="{626941CA-15B8-443C-A545-B3BCBBAD71A8}" type="presOf" srcId="{33BDFF37-F7A8-45E6-B683-CB410116D9D0}" destId="{9F71FD5D-9807-47CE-ADC0-1252B09783D1}" srcOrd="0" destOrd="0" presId="urn:microsoft.com/office/officeart/2005/8/layout/process1"/>
    <dgm:cxn modelId="{D8E57FCC-E097-4EF0-9B0B-1E865C5BC6D5}" srcId="{5BE50728-50A4-47DA-ACD3-85C31F3B3A57}" destId="{2F3277F0-D072-4991-8975-6B96469D454D}" srcOrd="2" destOrd="0" parTransId="{9E846174-C1E9-4D2D-A19C-EC9C93DDBC7E}" sibTransId="{E056AC9C-7E60-46CC-AAE4-4202075F2077}"/>
    <dgm:cxn modelId="{E4B0CDE0-1802-4120-BA27-717AAA34C0CE}" srcId="{5BE50728-50A4-47DA-ACD3-85C31F3B3A57}" destId="{E90E3EB3-3BE7-442A-BAD1-BE97779D3488}" srcOrd="1" destOrd="0" parTransId="{E82D5850-12C5-41E5-981B-EEDBE40FE757}" sibTransId="{A7E9FB8F-1632-4B4B-AC77-2281FD2BF12F}"/>
    <dgm:cxn modelId="{7B69C8E2-5BFE-4992-94BB-6DD5577EC75C}" type="presOf" srcId="{A7E9FB8F-1632-4B4B-AC77-2281FD2BF12F}" destId="{3B46C79F-2A05-4763-991D-CEE89839156F}" srcOrd="0" destOrd="0" presId="urn:microsoft.com/office/officeart/2005/8/layout/process1"/>
    <dgm:cxn modelId="{BC3389F3-6958-430E-A3DD-E26FBC55D3B0}" type="presOf" srcId="{736F68E0-6D78-4A19-B7B3-03957A246E87}" destId="{33A274FE-617D-405E-8DBE-D989642A92B2}" srcOrd="0" destOrd="0" presId="urn:microsoft.com/office/officeart/2005/8/layout/process1"/>
    <dgm:cxn modelId="{14FF2A5B-1249-450C-9DA3-22FED898A08A}" type="presParOf" srcId="{C822638E-F9C6-4ED4-AFEF-BDA369CFE21C}" destId="{9F71FD5D-9807-47CE-ADC0-1252B09783D1}" srcOrd="0" destOrd="0" presId="urn:microsoft.com/office/officeart/2005/8/layout/process1"/>
    <dgm:cxn modelId="{B8B73622-C67D-41D0-99E6-5727CF28B931}" type="presParOf" srcId="{C822638E-F9C6-4ED4-AFEF-BDA369CFE21C}" destId="{33A274FE-617D-405E-8DBE-D989642A92B2}" srcOrd="1" destOrd="0" presId="urn:microsoft.com/office/officeart/2005/8/layout/process1"/>
    <dgm:cxn modelId="{C107DDCF-7400-4178-A714-6CA2391F2F0A}" type="presParOf" srcId="{33A274FE-617D-405E-8DBE-D989642A92B2}" destId="{91F64677-2173-45A3-A3ED-077C6E3662EF}" srcOrd="0" destOrd="0" presId="urn:microsoft.com/office/officeart/2005/8/layout/process1"/>
    <dgm:cxn modelId="{E2F9A91D-CB41-4B2E-8534-647EF2807243}" type="presParOf" srcId="{C822638E-F9C6-4ED4-AFEF-BDA369CFE21C}" destId="{F33ECEDD-4191-4BD2-A8E7-0E77FA8A6ABF}" srcOrd="2" destOrd="0" presId="urn:microsoft.com/office/officeart/2005/8/layout/process1"/>
    <dgm:cxn modelId="{15166505-707E-4511-B884-1B3524C7941C}" type="presParOf" srcId="{C822638E-F9C6-4ED4-AFEF-BDA369CFE21C}" destId="{3B46C79F-2A05-4763-991D-CEE89839156F}" srcOrd="3" destOrd="0" presId="urn:microsoft.com/office/officeart/2005/8/layout/process1"/>
    <dgm:cxn modelId="{4B410134-BCCF-4862-95C8-4C34BACAFA61}" type="presParOf" srcId="{3B46C79F-2A05-4763-991D-CEE89839156F}" destId="{0B21D7D8-3D67-46F5-B8FE-2C59D5897225}" srcOrd="0" destOrd="0" presId="urn:microsoft.com/office/officeart/2005/8/layout/process1"/>
    <dgm:cxn modelId="{619EB76D-1495-446C-8B6B-3B83704A4C8F}" type="presParOf" srcId="{C822638E-F9C6-4ED4-AFEF-BDA369CFE21C}" destId="{30DB77A5-2FB5-440F-A1E0-2835FE2E4B84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BE50728-50A4-47DA-ACD3-85C31F3B3A57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33BDFF37-F7A8-45E6-B683-CB410116D9D0}">
      <dgm:prSet phldrT="[Text]"/>
      <dgm:spPr/>
      <dgm:t>
        <a:bodyPr/>
        <a:lstStyle/>
        <a:p>
          <a:r>
            <a:rPr lang="en-US" dirty="0"/>
            <a:t>Anomaly Detection</a:t>
          </a:r>
          <a:endParaRPr lang="en-CA" dirty="0"/>
        </a:p>
      </dgm:t>
    </dgm:pt>
    <dgm:pt modelId="{2107D49A-EC3A-4ACE-878D-0E406AD74D4C}" type="parTrans" cxnId="{92613C49-0510-454A-A0E0-6CE978E7A4EA}">
      <dgm:prSet/>
      <dgm:spPr/>
      <dgm:t>
        <a:bodyPr/>
        <a:lstStyle/>
        <a:p>
          <a:endParaRPr lang="en-CA"/>
        </a:p>
      </dgm:t>
    </dgm:pt>
    <dgm:pt modelId="{736F68E0-6D78-4A19-B7B3-03957A246E87}" type="sibTrans" cxnId="{92613C49-0510-454A-A0E0-6CE978E7A4EA}">
      <dgm:prSet/>
      <dgm:spPr/>
      <dgm:t>
        <a:bodyPr/>
        <a:lstStyle/>
        <a:p>
          <a:endParaRPr lang="en-CA"/>
        </a:p>
      </dgm:t>
    </dgm:pt>
    <dgm:pt modelId="{E90E3EB3-3BE7-442A-BAD1-BE97779D3488}">
      <dgm:prSet phldrT="[Text]"/>
      <dgm:spPr/>
      <dgm:t>
        <a:bodyPr/>
        <a:lstStyle/>
        <a:p>
          <a:r>
            <a:rPr lang="en-US" dirty="0"/>
            <a:t>Root-Cause /</a:t>
          </a:r>
        </a:p>
        <a:p>
          <a:r>
            <a:rPr lang="en-US" dirty="0"/>
            <a:t>Incident Detection</a:t>
          </a:r>
          <a:endParaRPr lang="en-CA" dirty="0"/>
        </a:p>
      </dgm:t>
    </dgm:pt>
    <dgm:pt modelId="{E82D5850-12C5-41E5-981B-EEDBE40FE757}" type="parTrans" cxnId="{E4B0CDE0-1802-4120-BA27-717AAA34C0CE}">
      <dgm:prSet/>
      <dgm:spPr/>
      <dgm:t>
        <a:bodyPr/>
        <a:lstStyle/>
        <a:p>
          <a:endParaRPr lang="en-CA"/>
        </a:p>
      </dgm:t>
    </dgm:pt>
    <dgm:pt modelId="{A7E9FB8F-1632-4B4B-AC77-2281FD2BF12F}" type="sibTrans" cxnId="{E4B0CDE0-1802-4120-BA27-717AAA34C0CE}">
      <dgm:prSet/>
      <dgm:spPr/>
      <dgm:t>
        <a:bodyPr/>
        <a:lstStyle/>
        <a:p>
          <a:endParaRPr lang="en-CA"/>
        </a:p>
      </dgm:t>
    </dgm:pt>
    <dgm:pt modelId="{2F3277F0-D072-4991-8975-6B96469D454D}">
      <dgm:prSet phldrT="[Text]"/>
      <dgm:spPr/>
      <dgm:t>
        <a:bodyPr/>
        <a:lstStyle/>
        <a:p>
          <a:r>
            <a:rPr lang="en-US" dirty="0"/>
            <a:t>User Interaction and Active Learning</a:t>
          </a:r>
          <a:endParaRPr lang="en-CA" dirty="0"/>
        </a:p>
      </dgm:t>
    </dgm:pt>
    <dgm:pt modelId="{9E846174-C1E9-4D2D-A19C-EC9C93DDBC7E}" type="parTrans" cxnId="{D8E57FCC-E097-4EF0-9B0B-1E865C5BC6D5}">
      <dgm:prSet/>
      <dgm:spPr/>
      <dgm:t>
        <a:bodyPr/>
        <a:lstStyle/>
        <a:p>
          <a:endParaRPr lang="en-CA"/>
        </a:p>
      </dgm:t>
    </dgm:pt>
    <dgm:pt modelId="{E056AC9C-7E60-46CC-AAE4-4202075F2077}" type="sibTrans" cxnId="{D8E57FCC-E097-4EF0-9B0B-1E865C5BC6D5}">
      <dgm:prSet/>
      <dgm:spPr/>
      <dgm:t>
        <a:bodyPr/>
        <a:lstStyle/>
        <a:p>
          <a:endParaRPr lang="en-CA"/>
        </a:p>
      </dgm:t>
    </dgm:pt>
    <dgm:pt modelId="{C822638E-F9C6-4ED4-AFEF-BDA369CFE21C}" type="pres">
      <dgm:prSet presAssocID="{5BE50728-50A4-47DA-ACD3-85C31F3B3A57}" presName="Name0" presStyleCnt="0">
        <dgm:presLayoutVars>
          <dgm:dir/>
          <dgm:resizeHandles val="exact"/>
        </dgm:presLayoutVars>
      </dgm:prSet>
      <dgm:spPr/>
    </dgm:pt>
    <dgm:pt modelId="{9F71FD5D-9807-47CE-ADC0-1252B09783D1}" type="pres">
      <dgm:prSet presAssocID="{33BDFF37-F7A8-45E6-B683-CB410116D9D0}" presName="node" presStyleLbl="node1" presStyleIdx="0" presStyleCnt="3">
        <dgm:presLayoutVars>
          <dgm:bulletEnabled val="1"/>
        </dgm:presLayoutVars>
      </dgm:prSet>
      <dgm:spPr/>
    </dgm:pt>
    <dgm:pt modelId="{33A274FE-617D-405E-8DBE-D989642A92B2}" type="pres">
      <dgm:prSet presAssocID="{736F68E0-6D78-4A19-B7B3-03957A246E87}" presName="sibTrans" presStyleLbl="sibTrans2D1" presStyleIdx="0" presStyleCnt="2"/>
      <dgm:spPr/>
    </dgm:pt>
    <dgm:pt modelId="{91F64677-2173-45A3-A3ED-077C6E3662EF}" type="pres">
      <dgm:prSet presAssocID="{736F68E0-6D78-4A19-B7B3-03957A246E87}" presName="connectorText" presStyleLbl="sibTrans2D1" presStyleIdx="0" presStyleCnt="2"/>
      <dgm:spPr/>
    </dgm:pt>
    <dgm:pt modelId="{F33ECEDD-4191-4BD2-A8E7-0E77FA8A6ABF}" type="pres">
      <dgm:prSet presAssocID="{E90E3EB3-3BE7-442A-BAD1-BE97779D3488}" presName="node" presStyleLbl="node1" presStyleIdx="1" presStyleCnt="3" custScaleX="108489">
        <dgm:presLayoutVars>
          <dgm:bulletEnabled val="1"/>
        </dgm:presLayoutVars>
      </dgm:prSet>
      <dgm:spPr/>
    </dgm:pt>
    <dgm:pt modelId="{3B46C79F-2A05-4763-991D-CEE89839156F}" type="pres">
      <dgm:prSet presAssocID="{A7E9FB8F-1632-4B4B-AC77-2281FD2BF12F}" presName="sibTrans" presStyleLbl="sibTrans2D1" presStyleIdx="1" presStyleCnt="2"/>
      <dgm:spPr/>
    </dgm:pt>
    <dgm:pt modelId="{0B21D7D8-3D67-46F5-B8FE-2C59D5897225}" type="pres">
      <dgm:prSet presAssocID="{A7E9FB8F-1632-4B4B-AC77-2281FD2BF12F}" presName="connectorText" presStyleLbl="sibTrans2D1" presStyleIdx="1" presStyleCnt="2"/>
      <dgm:spPr/>
    </dgm:pt>
    <dgm:pt modelId="{30DB77A5-2FB5-440F-A1E0-2835FE2E4B84}" type="pres">
      <dgm:prSet presAssocID="{2F3277F0-D072-4991-8975-6B96469D454D}" presName="node" presStyleLbl="node1" presStyleIdx="2" presStyleCnt="3">
        <dgm:presLayoutVars>
          <dgm:bulletEnabled val="1"/>
        </dgm:presLayoutVars>
      </dgm:prSet>
      <dgm:spPr/>
    </dgm:pt>
  </dgm:ptLst>
  <dgm:cxnLst>
    <dgm:cxn modelId="{4CD1D504-238C-4AF0-A2C7-A4CECBD92FF2}" type="presOf" srcId="{E90E3EB3-3BE7-442A-BAD1-BE97779D3488}" destId="{F33ECEDD-4191-4BD2-A8E7-0E77FA8A6ABF}" srcOrd="0" destOrd="0" presId="urn:microsoft.com/office/officeart/2005/8/layout/process1"/>
    <dgm:cxn modelId="{C0594144-E6A5-42FE-A042-1A704691AFCE}" type="presOf" srcId="{736F68E0-6D78-4A19-B7B3-03957A246E87}" destId="{91F64677-2173-45A3-A3ED-077C6E3662EF}" srcOrd="1" destOrd="0" presId="urn:microsoft.com/office/officeart/2005/8/layout/process1"/>
    <dgm:cxn modelId="{92613C49-0510-454A-A0E0-6CE978E7A4EA}" srcId="{5BE50728-50A4-47DA-ACD3-85C31F3B3A57}" destId="{33BDFF37-F7A8-45E6-B683-CB410116D9D0}" srcOrd="0" destOrd="0" parTransId="{2107D49A-EC3A-4ACE-878D-0E406AD74D4C}" sibTransId="{736F68E0-6D78-4A19-B7B3-03957A246E87}"/>
    <dgm:cxn modelId="{AA89B06F-0710-4D26-970F-22B3A9856ACE}" type="presOf" srcId="{5BE50728-50A4-47DA-ACD3-85C31F3B3A57}" destId="{C822638E-F9C6-4ED4-AFEF-BDA369CFE21C}" srcOrd="0" destOrd="0" presId="urn:microsoft.com/office/officeart/2005/8/layout/process1"/>
    <dgm:cxn modelId="{CC34D78B-5203-49B1-B7EE-2FF9CAEDB9CA}" type="presOf" srcId="{A7E9FB8F-1632-4B4B-AC77-2281FD2BF12F}" destId="{0B21D7D8-3D67-46F5-B8FE-2C59D5897225}" srcOrd="1" destOrd="0" presId="urn:microsoft.com/office/officeart/2005/8/layout/process1"/>
    <dgm:cxn modelId="{30711B96-F3C8-4907-95DC-3D87A04D0496}" type="presOf" srcId="{2F3277F0-D072-4991-8975-6B96469D454D}" destId="{30DB77A5-2FB5-440F-A1E0-2835FE2E4B84}" srcOrd="0" destOrd="0" presId="urn:microsoft.com/office/officeart/2005/8/layout/process1"/>
    <dgm:cxn modelId="{626941CA-15B8-443C-A545-B3BCBBAD71A8}" type="presOf" srcId="{33BDFF37-F7A8-45E6-B683-CB410116D9D0}" destId="{9F71FD5D-9807-47CE-ADC0-1252B09783D1}" srcOrd="0" destOrd="0" presId="urn:microsoft.com/office/officeart/2005/8/layout/process1"/>
    <dgm:cxn modelId="{D8E57FCC-E097-4EF0-9B0B-1E865C5BC6D5}" srcId="{5BE50728-50A4-47DA-ACD3-85C31F3B3A57}" destId="{2F3277F0-D072-4991-8975-6B96469D454D}" srcOrd="2" destOrd="0" parTransId="{9E846174-C1E9-4D2D-A19C-EC9C93DDBC7E}" sibTransId="{E056AC9C-7E60-46CC-AAE4-4202075F2077}"/>
    <dgm:cxn modelId="{E4B0CDE0-1802-4120-BA27-717AAA34C0CE}" srcId="{5BE50728-50A4-47DA-ACD3-85C31F3B3A57}" destId="{E90E3EB3-3BE7-442A-BAD1-BE97779D3488}" srcOrd="1" destOrd="0" parTransId="{E82D5850-12C5-41E5-981B-EEDBE40FE757}" sibTransId="{A7E9FB8F-1632-4B4B-AC77-2281FD2BF12F}"/>
    <dgm:cxn modelId="{7B69C8E2-5BFE-4992-94BB-6DD5577EC75C}" type="presOf" srcId="{A7E9FB8F-1632-4B4B-AC77-2281FD2BF12F}" destId="{3B46C79F-2A05-4763-991D-CEE89839156F}" srcOrd="0" destOrd="0" presId="urn:microsoft.com/office/officeart/2005/8/layout/process1"/>
    <dgm:cxn modelId="{BC3389F3-6958-430E-A3DD-E26FBC55D3B0}" type="presOf" srcId="{736F68E0-6D78-4A19-B7B3-03957A246E87}" destId="{33A274FE-617D-405E-8DBE-D989642A92B2}" srcOrd="0" destOrd="0" presId="urn:microsoft.com/office/officeart/2005/8/layout/process1"/>
    <dgm:cxn modelId="{14FF2A5B-1249-450C-9DA3-22FED898A08A}" type="presParOf" srcId="{C822638E-F9C6-4ED4-AFEF-BDA369CFE21C}" destId="{9F71FD5D-9807-47CE-ADC0-1252B09783D1}" srcOrd="0" destOrd="0" presId="urn:microsoft.com/office/officeart/2005/8/layout/process1"/>
    <dgm:cxn modelId="{B8B73622-C67D-41D0-99E6-5727CF28B931}" type="presParOf" srcId="{C822638E-F9C6-4ED4-AFEF-BDA369CFE21C}" destId="{33A274FE-617D-405E-8DBE-D989642A92B2}" srcOrd="1" destOrd="0" presId="urn:microsoft.com/office/officeart/2005/8/layout/process1"/>
    <dgm:cxn modelId="{C107DDCF-7400-4178-A714-6CA2391F2F0A}" type="presParOf" srcId="{33A274FE-617D-405E-8DBE-D989642A92B2}" destId="{91F64677-2173-45A3-A3ED-077C6E3662EF}" srcOrd="0" destOrd="0" presId="urn:microsoft.com/office/officeart/2005/8/layout/process1"/>
    <dgm:cxn modelId="{E2F9A91D-CB41-4B2E-8534-647EF2807243}" type="presParOf" srcId="{C822638E-F9C6-4ED4-AFEF-BDA369CFE21C}" destId="{F33ECEDD-4191-4BD2-A8E7-0E77FA8A6ABF}" srcOrd="2" destOrd="0" presId="urn:microsoft.com/office/officeart/2005/8/layout/process1"/>
    <dgm:cxn modelId="{15166505-707E-4511-B884-1B3524C7941C}" type="presParOf" srcId="{C822638E-F9C6-4ED4-AFEF-BDA369CFE21C}" destId="{3B46C79F-2A05-4763-991D-CEE89839156F}" srcOrd="3" destOrd="0" presId="urn:microsoft.com/office/officeart/2005/8/layout/process1"/>
    <dgm:cxn modelId="{4B410134-BCCF-4862-95C8-4C34BACAFA61}" type="presParOf" srcId="{3B46C79F-2A05-4763-991D-CEE89839156F}" destId="{0B21D7D8-3D67-46F5-B8FE-2C59D5897225}" srcOrd="0" destOrd="0" presId="urn:microsoft.com/office/officeart/2005/8/layout/process1"/>
    <dgm:cxn modelId="{619EB76D-1495-446C-8B6B-3B83704A4C8F}" type="presParOf" srcId="{C822638E-F9C6-4ED4-AFEF-BDA369CFE21C}" destId="{30DB77A5-2FB5-440F-A1E0-2835FE2E4B84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71FD5D-9807-47CE-ADC0-1252B09783D1}">
      <dsp:nvSpPr>
        <dsp:cNvPr id="0" name=""/>
        <dsp:cNvSpPr/>
      </dsp:nvSpPr>
      <dsp:spPr>
        <a:xfrm>
          <a:off x="742" y="1467355"/>
          <a:ext cx="2364204" cy="14185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Anomaly Detection + Explanation</a:t>
          </a:r>
          <a:endParaRPr lang="en-CA" sz="2400" kern="1200" dirty="0"/>
        </a:p>
      </dsp:txBody>
      <dsp:txXfrm>
        <a:off x="42289" y="1508902"/>
        <a:ext cx="2281110" cy="1335428"/>
      </dsp:txXfrm>
    </dsp:sp>
    <dsp:sp modelId="{33A274FE-617D-405E-8DBE-D989642A92B2}">
      <dsp:nvSpPr>
        <dsp:cNvPr id="0" name=""/>
        <dsp:cNvSpPr/>
      </dsp:nvSpPr>
      <dsp:spPr>
        <a:xfrm>
          <a:off x="2601367" y="1883455"/>
          <a:ext cx="501211" cy="58632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1900" kern="1200"/>
        </a:p>
      </dsp:txBody>
      <dsp:txXfrm>
        <a:off x="2601367" y="2000719"/>
        <a:ext cx="350848" cy="351794"/>
      </dsp:txXfrm>
    </dsp:sp>
    <dsp:sp modelId="{F33ECEDD-4191-4BD2-A8E7-0E77FA8A6ABF}">
      <dsp:nvSpPr>
        <dsp:cNvPr id="0" name=""/>
        <dsp:cNvSpPr/>
      </dsp:nvSpPr>
      <dsp:spPr>
        <a:xfrm>
          <a:off x="3310628" y="1467355"/>
          <a:ext cx="2566391" cy="14185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Root-Cause /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Incident Detection</a:t>
          </a:r>
          <a:endParaRPr lang="en-CA" sz="2400" kern="1200" dirty="0"/>
        </a:p>
      </dsp:txBody>
      <dsp:txXfrm>
        <a:off x="3352175" y="1508902"/>
        <a:ext cx="2483297" cy="1335428"/>
      </dsp:txXfrm>
    </dsp:sp>
    <dsp:sp modelId="{3B46C79F-2A05-4763-991D-CEE89839156F}">
      <dsp:nvSpPr>
        <dsp:cNvPr id="0" name=""/>
        <dsp:cNvSpPr/>
      </dsp:nvSpPr>
      <dsp:spPr>
        <a:xfrm>
          <a:off x="6113440" y="1883455"/>
          <a:ext cx="501211" cy="58632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1900" kern="1200"/>
        </a:p>
      </dsp:txBody>
      <dsp:txXfrm>
        <a:off x="6113440" y="2000719"/>
        <a:ext cx="350848" cy="351794"/>
      </dsp:txXfrm>
    </dsp:sp>
    <dsp:sp modelId="{30DB77A5-2FB5-440F-A1E0-2835FE2E4B84}">
      <dsp:nvSpPr>
        <dsp:cNvPr id="0" name=""/>
        <dsp:cNvSpPr/>
      </dsp:nvSpPr>
      <dsp:spPr>
        <a:xfrm>
          <a:off x="6822702" y="1467355"/>
          <a:ext cx="2364204" cy="14185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User Interaction and Active Learning</a:t>
          </a:r>
          <a:endParaRPr lang="en-CA" sz="2400" kern="1200" dirty="0"/>
        </a:p>
      </dsp:txBody>
      <dsp:txXfrm>
        <a:off x="6864249" y="1508902"/>
        <a:ext cx="2281110" cy="13354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71FD5D-9807-47CE-ADC0-1252B09783D1}">
      <dsp:nvSpPr>
        <dsp:cNvPr id="0" name=""/>
        <dsp:cNvSpPr/>
      </dsp:nvSpPr>
      <dsp:spPr>
        <a:xfrm>
          <a:off x="1487" y="1467355"/>
          <a:ext cx="2364204" cy="14185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Anomaly Detection</a:t>
          </a:r>
          <a:endParaRPr lang="en-CA" sz="2400" kern="1200" dirty="0"/>
        </a:p>
      </dsp:txBody>
      <dsp:txXfrm>
        <a:off x="43034" y="1508902"/>
        <a:ext cx="2281110" cy="1335428"/>
      </dsp:txXfrm>
    </dsp:sp>
    <dsp:sp modelId="{33A274FE-617D-405E-8DBE-D989642A92B2}">
      <dsp:nvSpPr>
        <dsp:cNvPr id="0" name=""/>
        <dsp:cNvSpPr/>
      </dsp:nvSpPr>
      <dsp:spPr>
        <a:xfrm>
          <a:off x="2602112" y="1883455"/>
          <a:ext cx="501211" cy="58632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1900" kern="1200"/>
        </a:p>
      </dsp:txBody>
      <dsp:txXfrm>
        <a:off x="2602112" y="2000719"/>
        <a:ext cx="350848" cy="351794"/>
      </dsp:txXfrm>
    </dsp:sp>
    <dsp:sp modelId="{F33ECEDD-4191-4BD2-A8E7-0E77FA8A6ABF}">
      <dsp:nvSpPr>
        <dsp:cNvPr id="0" name=""/>
        <dsp:cNvSpPr/>
      </dsp:nvSpPr>
      <dsp:spPr>
        <a:xfrm>
          <a:off x="3311373" y="1467355"/>
          <a:ext cx="2564901" cy="14185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Root-Cause /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Incident Detection</a:t>
          </a:r>
          <a:endParaRPr lang="en-CA" sz="2400" kern="1200" dirty="0"/>
        </a:p>
      </dsp:txBody>
      <dsp:txXfrm>
        <a:off x="3352920" y="1508902"/>
        <a:ext cx="2481807" cy="1335428"/>
      </dsp:txXfrm>
    </dsp:sp>
    <dsp:sp modelId="{3B46C79F-2A05-4763-991D-CEE89839156F}">
      <dsp:nvSpPr>
        <dsp:cNvPr id="0" name=""/>
        <dsp:cNvSpPr/>
      </dsp:nvSpPr>
      <dsp:spPr>
        <a:xfrm>
          <a:off x="6112695" y="1883455"/>
          <a:ext cx="501211" cy="58632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1900" kern="1200"/>
        </a:p>
      </dsp:txBody>
      <dsp:txXfrm>
        <a:off x="6112695" y="2000719"/>
        <a:ext cx="350848" cy="351794"/>
      </dsp:txXfrm>
    </dsp:sp>
    <dsp:sp modelId="{30DB77A5-2FB5-440F-A1E0-2835FE2E4B84}">
      <dsp:nvSpPr>
        <dsp:cNvPr id="0" name=""/>
        <dsp:cNvSpPr/>
      </dsp:nvSpPr>
      <dsp:spPr>
        <a:xfrm>
          <a:off x="6821957" y="1467355"/>
          <a:ext cx="2364204" cy="14185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User Interaction and Active Learning</a:t>
          </a:r>
          <a:endParaRPr lang="en-CA" sz="2400" kern="1200" dirty="0"/>
        </a:p>
      </dsp:txBody>
      <dsp:txXfrm>
        <a:off x="6863504" y="1508902"/>
        <a:ext cx="2281110" cy="13354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6415E0-A367-4EA1-B440-BAD2EAE9068C}" type="datetimeFigureOut">
              <a:rPr lang="en-CA" smtClean="0"/>
              <a:t>2020-04-20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D5494-F4C0-4554-AE42-323D75B9A87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8543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885040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150445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75293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899838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543416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153157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995690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9698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552435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91033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D92DB-6EF2-4C3B-B793-211D9966E6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ACAEB-5615-4A89-BF08-915DBBBA12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DED92-720E-4152-AA02-EA07EA6DB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9828D-AE21-450A-8B5D-8FA9F33A3B4F}" type="datetimeFigureOut">
              <a:rPr lang="en-CA" smtClean="0"/>
              <a:t>2020-04-20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627D9-BA36-4B87-B004-F0EE77FD1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06FFE-EFAB-4C28-9BA5-CAAEBA3D3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4A491-A15D-4EC4-97B8-FD9251DBB8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07186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8B184-C698-42DC-984D-15EB54A91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96AB6-2D5B-4AB1-A497-2F211CA27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B0DA1B-892D-4AFC-BF7F-E882EE542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9828D-AE21-450A-8B5D-8FA9F33A3B4F}" type="datetimeFigureOut">
              <a:rPr lang="en-CA" smtClean="0"/>
              <a:t>2020-04-20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774DD-DB72-4613-8F01-92FB9CC97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ACEA3-30E9-4E9F-B589-9F41872EB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4A491-A15D-4EC4-97B8-FD9251DBB8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08171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66932-E0D8-4FA2-B653-FC4FE2065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2FE319-3D70-446F-93AD-2EA3EB823E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D8F4C-2214-4323-AD33-ED644169D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9828D-AE21-450A-8B5D-8FA9F33A3B4F}" type="datetimeFigureOut">
              <a:rPr lang="en-CA" smtClean="0"/>
              <a:t>2020-04-20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4A2F1-F683-4E04-8E8B-CCCF31C8A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FF2D2-411A-4558-A973-FB85EE993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4A491-A15D-4EC4-97B8-FD9251DBB8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3595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17227-A99B-46C9-86D2-0FA5BC3D6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E35C4-4596-4B49-AEDF-23E77BE57D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E4D82A-3307-477B-B774-28AE7FAFE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EC98AB-2689-407E-9483-B88A3BA78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9828D-AE21-450A-8B5D-8FA9F33A3B4F}" type="datetimeFigureOut">
              <a:rPr lang="en-CA" smtClean="0"/>
              <a:t>2020-04-20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4E01A6-FC6F-4730-B2E8-7D3750DAD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E8FF19-8E73-4A3A-85E9-ED5DBE69D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4A491-A15D-4EC4-97B8-FD9251DBB8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05382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2D057-4576-41A8-8AD1-C330FA673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E0A375-D1C6-4605-91ED-FE5248314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2467C0-0269-4904-8812-7AC219E22F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3DC20A-8D9E-4F54-A6CA-E940431B38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5A4EE4-F6BF-4185-A7DD-F4F0A1DF6F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CF31EC-F3B7-435A-8C17-1D7FDDC86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9828D-AE21-450A-8B5D-8FA9F33A3B4F}" type="datetimeFigureOut">
              <a:rPr lang="en-CA" smtClean="0"/>
              <a:t>2020-04-20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13BA44-7E1A-4F5C-8B8C-5D90447F3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FAEF8C-AF54-47D2-923B-443D9E5F2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4A491-A15D-4EC4-97B8-FD9251DBB8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52027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0C99A-DAA8-4D72-A2C3-F2B0A2406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7F3FE2-194C-4BF4-BE6C-23EBD9925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9828D-AE21-450A-8B5D-8FA9F33A3B4F}" type="datetimeFigureOut">
              <a:rPr lang="en-CA" smtClean="0"/>
              <a:t>2020-04-20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18C942-C046-4B0D-AD63-71B903F3B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517EF0-AC2E-4F39-9278-F0EE873DF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4A491-A15D-4EC4-97B8-FD9251DBB8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62854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DFF617-F580-4903-A601-504BE5DBC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9828D-AE21-450A-8B5D-8FA9F33A3B4F}" type="datetimeFigureOut">
              <a:rPr lang="en-CA" smtClean="0"/>
              <a:t>2020-04-20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B73244-206D-4143-B81F-BCD6EE566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10781F-E68D-4E6F-931E-01D6EE6AC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4A491-A15D-4EC4-97B8-FD9251DBB8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7815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51575-D13B-4D9D-912D-B514BF40E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C52F9-5AA9-4E3D-AF05-AE058B3E4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BC263D-29A2-4D14-8589-18774929B1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E64FD8-33B5-4033-B54E-B52E350C8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9828D-AE21-450A-8B5D-8FA9F33A3B4F}" type="datetimeFigureOut">
              <a:rPr lang="en-CA" smtClean="0"/>
              <a:t>2020-04-20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C25778-5A72-4F9A-BC56-471CAEA45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3F845E-0DA3-44E4-A7BA-F7600DF67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4A491-A15D-4EC4-97B8-FD9251DBB8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0452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3E261-4F07-47DA-BB7A-82A6A04F5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5DE27B-D20F-4C9D-A301-175B75BE79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020C01-C15E-4F5C-9933-1E6A402DCA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206FB1-2D29-42B3-BD5E-3CA4B32BD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9828D-AE21-450A-8B5D-8FA9F33A3B4F}" type="datetimeFigureOut">
              <a:rPr lang="en-CA" smtClean="0"/>
              <a:t>2020-04-20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FD8B7D-DE66-49AA-8BA8-62E1294A8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707AD1-D76B-4D93-8DCA-D83C07FC5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4A491-A15D-4EC4-97B8-FD9251DBB8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83389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BFEF9-41F9-401A-B8D3-F696B5303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471BE0-B744-44C8-B321-83E13CD957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9CE2D-7AEF-45AE-AB05-F5885CE1D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9828D-AE21-450A-8B5D-8FA9F33A3B4F}" type="datetimeFigureOut">
              <a:rPr lang="en-CA" smtClean="0"/>
              <a:t>2020-04-20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5738E-7B54-4B61-AD60-A77B3A493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E52A68-63F4-4CAD-887D-1154B2906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4A491-A15D-4EC4-97B8-FD9251DBB8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4671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10F792-D537-4FD5-9BA2-C054A8D6E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8400FE-161F-4162-81A0-E35F2B0798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1932E-4A34-4307-B966-C0F0B679D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9828D-AE21-450A-8B5D-8FA9F33A3B4F}" type="datetimeFigureOut">
              <a:rPr lang="en-CA" smtClean="0"/>
              <a:t>2020-04-20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BCEF1-FC2D-4489-AEBB-2D705D5D7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12A2B-71EF-4C8D-B06D-8F6F155E6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4A491-A15D-4EC4-97B8-FD9251DBB8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41007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63203B-47D4-4B78-A8AA-4D4F65209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60D737-432A-47B1-B745-C6ADA7DC7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187EB-33E9-4938-BD0A-14EBED7EB0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9828D-AE21-450A-8B5D-8FA9F33A3B4F}" type="datetimeFigureOut">
              <a:rPr lang="en-CA" smtClean="0"/>
              <a:t>2020-04-20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C7E59-0544-42F2-A47C-2B0B51F606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749228-B8D2-4254-B0F8-8EEED3D13A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54A491-A15D-4EC4-97B8-FD9251DBB8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1976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58EE1-8E2E-4CA4-B790-4B1595D479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ML Applications in Network Operations &amp; Security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8AE658-FEE3-4EC7-8D39-725FE7E926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Hazem Soliman, RANK Software Inc.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30685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4E5D7-4B3E-46F2-9C1C-EC34EE4F6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Speaker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29BAC-1CFF-4F26-8E71-128D9F50C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BSc, MSc, Cairo University EECE</a:t>
            </a:r>
          </a:p>
          <a:p>
            <a:r>
              <a:rPr lang="en-US" dirty="0"/>
              <a:t>PhD, University of Toronto, ECE</a:t>
            </a:r>
          </a:p>
          <a:p>
            <a:r>
              <a:rPr lang="en-US" dirty="0"/>
              <a:t>3+ years industrial experience in network automation (operations and security)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90586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27BF9-E672-4441-B7FB-E5FBD43C5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58E89-CF24-4008-AFB5-1267222BF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use-cases in network operations and security.</a:t>
            </a:r>
          </a:p>
          <a:p>
            <a:r>
              <a:rPr lang="en-US" dirty="0"/>
              <a:t>Three Main applications.</a:t>
            </a:r>
          </a:p>
          <a:p>
            <a:pPr lvl="1"/>
            <a:r>
              <a:rPr lang="en-US" dirty="0"/>
              <a:t>Ex 1: Detecting C2 Traffic.</a:t>
            </a:r>
          </a:p>
          <a:p>
            <a:pPr lvl="1"/>
            <a:r>
              <a:rPr lang="en-US" dirty="0"/>
              <a:t>Ex 2: Incident Detection.</a:t>
            </a:r>
          </a:p>
          <a:p>
            <a:pPr lvl="1"/>
            <a:r>
              <a:rPr lang="en-US" dirty="0"/>
              <a:t>Ex 3: IP Embedding.</a:t>
            </a:r>
          </a:p>
          <a:p>
            <a:r>
              <a:rPr lang="en-US" dirty="0"/>
              <a:t>Summary and Conclusion.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07562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39DBE-5713-4B71-9ADD-2CED013F8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</a:t>
            </a:r>
            <a:endParaRPr lang="en-CA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D190DEF-50CE-422B-8EB4-4A0720F23D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Network Operations</a:t>
            </a:r>
            <a:endParaRPr lang="en-CA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039F25B-3A28-4403-B529-09ED26046EA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Who:</a:t>
            </a:r>
          </a:p>
          <a:p>
            <a:pPr lvl="1"/>
            <a:r>
              <a:rPr lang="en-US" dirty="0" err="1"/>
              <a:t>NoC</a:t>
            </a:r>
            <a:r>
              <a:rPr lang="en-US" dirty="0"/>
              <a:t> (Network Operations Centre)</a:t>
            </a:r>
          </a:p>
          <a:p>
            <a:pPr lvl="1"/>
            <a:r>
              <a:rPr lang="en-US" dirty="0"/>
              <a:t>Service Providers, e.g. Vodafone</a:t>
            </a:r>
          </a:p>
          <a:p>
            <a:r>
              <a:rPr lang="en-US" dirty="0"/>
              <a:t>Goal: detect customer-impacting network problems, before customers complain</a:t>
            </a:r>
            <a:endParaRPr lang="en-CA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BD18023-AAC4-4E4E-BC5C-7F0EF5EDD9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Network Security</a:t>
            </a:r>
            <a:endParaRPr lang="en-CA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4C08757-2E6F-40B9-8C1B-3FF1CA33C4E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Who:</a:t>
            </a:r>
          </a:p>
          <a:p>
            <a:pPr lvl="1"/>
            <a:r>
              <a:rPr lang="en-US" dirty="0"/>
              <a:t>SoC (Security Operations Centre), security analysts</a:t>
            </a:r>
          </a:p>
          <a:p>
            <a:pPr lvl="1"/>
            <a:r>
              <a:rPr lang="en-US" dirty="0"/>
              <a:t>Enterprises, MSSP (Managed Security Service Provider)</a:t>
            </a:r>
          </a:p>
          <a:p>
            <a:r>
              <a:rPr lang="en-US" dirty="0"/>
              <a:t>Goal: Detect security breaches, prevent data theft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39673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9D12C-E5D4-4A0B-9987-79308F493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NoC</a:t>
            </a:r>
            <a:r>
              <a:rPr lang="en-US" dirty="0"/>
              <a:t> (Network Operations Center)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13D44-8BA4-4D21-9EC4-838F730C6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5544" y="1759249"/>
            <a:ext cx="10515600" cy="4351338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79628B-F7A1-4B65-BA97-416CBD3DB0C4}"/>
              </a:ext>
            </a:extLst>
          </p:cNvPr>
          <p:cNvSpPr/>
          <p:nvPr/>
        </p:nvSpPr>
        <p:spPr>
          <a:xfrm>
            <a:off x="9967865" y="1955549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411B43-88C5-4E23-8A7F-3A3960A868D8}"/>
              </a:ext>
            </a:extLst>
          </p:cNvPr>
          <p:cNvSpPr/>
          <p:nvPr/>
        </p:nvSpPr>
        <p:spPr>
          <a:xfrm>
            <a:off x="9785286" y="1887648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D9E1B6-68FF-41AD-A806-3618EB708708}"/>
              </a:ext>
            </a:extLst>
          </p:cNvPr>
          <p:cNvSpPr/>
          <p:nvPr/>
        </p:nvSpPr>
        <p:spPr>
          <a:xfrm>
            <a:off x="9602707" y="1955549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8ECB01-7172-4099-AA6C-6FF0F6248256}"/>
              </a:ext>
            </a:extLst>
          </p:cNvPr>
          <p:cNvSpPr/>
          <p:nvPr/>
        </p:nvSpPr>
        <p:spPr>
          <a:xfrm>
            <a:off x="7521920" y="1955549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019A70-4450-4A1E-95C1-6CCAD9CD13A8}"/>
              </a:ext>
            </a:extLst>
          </p:cNvPr>
          <p:cNvSpPr/>
          <p:nvPr/>
        </p:nvSpPr>
        <p:spPr>
          <a:xfrm>
            <a:off x="7339341" y="1887648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E83AD2-C6C6-4841-AAFC-BC32A094B50C}"/>
              </a:ext>
            </a:extLst>
          </p:cNvPr>
          <p:cNvSpPr/>
          <p:nvPr/>
        </p:nvSpPr>
        <p:spPr>
          <a:xfrm>
            <a:off x="7156762" y="1955549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B86B87-7C8E-4567-A6D2-61F5FD5BD14E}"/>
              </a:ext>
            </a:extLst>
          </p:cNvPr>
          <p:cNvSpPr/>
          <p:nvPr/>
        </p:nvSpPr>
        <p:spPr>
          <a:xfrm>
            <a:off x="4389421" y="1955549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1EC178-A4B0-426D-BA7A-7FD9BCE11A7C}"/>
              </a:ext>
            </a:extLst>
          </p:cNvPr>
          <p:cNvSpPr/>
          <p:nvPr/>
        </p:nvSpPr>
        <p:spPr>
          <a:xfrm>
            <a:off x="4206842" y="1887648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E2BB98-807D-455A-8790-1A05BA15F83B}"/>
              </a:ext>
            </a:extLst>
          </p:cNvPr>
          <p:cNvSpPr/>
          <p:nvPr/>
        </p:nvSpPr>
        <p:spPr>
          <a:xfrm>
            <a:off x="4024263" y="1955549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A4710E-9340-4F7E-B743-A25494B0725D}"/>
              </a:ext>
            </a:extLst>
          </p:cNvPr>
          <p:cNvSpPr/>
          <p:nvPr/>
        </p:nvSpPr>
        <p:spPr>
          <a:xfrm>
            <a:off x="9729456" y="2390115"/>
            <a:ext cx="238409" cy="2172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39542E-DF7E-43E4-B3D3-6B35A5BC1BFE}"/>
              </a:ext>
            </a:extLst>
          </p:cNvPr>
          <p:cNvSpPr/>
          <p:nvPr/>
        </p:nvSpPr>
        <p:spPr>
          <a:xfrm>
            <a:off x="7283511" y="2393290"/>
            <a:ext cx="238409" cy="2172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27F8E4-D5F3-4F24-9F9B-28F8A9EA321D}"/>
              </a:ext>
            </a:extLst>
          </p:cNvPr>
          <p:cNvSpPr/>
          <p:nvPr/>
        </p:nvSpPr>
        <p:spPr>
          <a:xfrm>
            <a:off x="4151012" y="2390115"/>
            <a:ext cx="238409" cy="2172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94A53A-02BB-42A3-B928-CF502824A85D}"/>
              </a:ext>
            </a:extLst>
          </p:cNvPr>
          <p:cNvSpPr/>
          <p:nvPr/>
        </p:nvSpPr>
        <p:spPr>
          <a:xfrm>
            <a:off x="8095683" y="2995298"/>
            <a:ext cx="921568" cy="47078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Agg</a:t>
            </a:r>
            <a:endParaRPr lang="en-CA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7CEC96-BB07-4013-9E96-33571FE6751E}"/>
              </a:ext>
            </a:extLst>
          </p:cNvPr>
          <p:cNvSpPr/>
          <p:nvPr/>
        </p:nvSpPr>
        <p:spPr>
          <a:xfrm>
            <a:off x="3109484" y="2995298"/>
            <a:ext cx="921568" cy="47078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Agg</a:t>
            </a:r>
            <a:endParaRPr lang="en-CA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EC410A4-4086-47BA-9493-1A183F6846DA}"/>
              </a:ext>
            </a:extLst>
          </p:cNvPr>
          <p:cNvSpPr/>
          <p:nvPr/>
        </p:nvSpPr>
        <p:spPr>
          <a:xfrm>
            <a:off x="6152582" y="4095341"/>
            <a:ext cx="2008360" cy="57942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Core Router</a:t>
            </a:r>
            <a:endParaRPr lang="en-CA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913475-B39D-418C-9037-6DFA4B720446}"/>
              </a:ext>
            </a:extLst>
          </p:cNvPr>
          <p:cNvSpPr/>
          <p:nvPr/>
        </p:nvSpPr>
        <p:spPr>
          <a:xfrm>
            <a:off x="3511990" y="4095341"/>
            <a:ext cx="2008360" cy="57942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Core Router</a:t>
            </a:r>
            <a:endParaRPr lang="en-CA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13925E-3E89-409A-A67D-192ACB381138}"/>
              </a:ext>
            </a:extLst>
          </p:cNvPr>
          <p:cNvSpPr/>
          <p:nvPr/>
        </p:nvSpPr>
        <p:spPr>
          <a:xfrm>
            <a:off x="4978086" y="6001946"/>
            <a:ext cx="2008360" cy="57942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069BD72-9F83-4243-8568-5BEF750C481E}"/>
              </a:ext>
            </a:extLst>
          </p:cNvPr>
          <p:cNvSpPr/>
          <p:nvPr/>
        </p:nvSpPr>
        <p:spPr>
          <a:xfrm>
            <a:off x="6152582" y="4892931"/>
            <a:ext cx="1457979" cy="669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Edge</a:t>
            </a:r>
            <a:endParaRPr lang="en-CA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E7272A-5600-4693-8B33-7AC1B8A828EF}"/>
              </a:ext>
            </a:extLst>
          </p:cNvPr>
          <p:cNvSpPr txBox="1"/>
          <p:nvPr/>
        </p:nvSpPr>
        <p:spPr>
          <a:xfrm>
            <a:off x="10205232" y="1564482"/>
            <a:ext cx="1063593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Home Internet</a:t>
            </a:r>
            <a:endParaRPr lang="en-CA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6D9B15-0B9A-4430-AB3B-13B7CDD1B801}"/>
              </a:ext>
            </a:extLst>
          </p:cNvPr>
          <p:cNvSpPr txBox="1"/>
          <p:nvPr/>
        </p:nvSpPr>
        <p:spPr>
          <a:xfrm>
            <a:off x="8849571" y="2314090"/>
            <a:ext cx="75313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BRAS</a:t>
            </a:r>
            <a:endParaRPr lang="en-CA" dirty="0"/>
          </a:p>
        </p:txBody>
      </p:sp>
      <p:sp>
        <p:nvSpPr>
          <p:cNvPr id="29" name="Right Brace 28">
            <a:extLst>
              <a:ext uri="{FF2B5EF4-FFF2-40B4-BE49-F238E27FC236}">
                <a16:creationId xmlns:a16="http://schemas.microsoft.com/office/drawing/2014/main" id="{1E6F0F67-3989-4DFF-9D12-8E9E9868061D}"/>
              </a:ext>
            </a:extLst>
          </p:cNvPr>
          <p:cNvSpPr/>
          <p:nvPr/>
        </p:nvSpPr>
        <p:spPr>
          <a:xfrm rot="16200000">
            <a:off x="5797600" y="4595911"/>
            <a:ext cx="369332" cy="260249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833C067-F73E-4E4D-80DA-A9BAECB73310}"/>
              </a:ext>
            </a:extLst>
          </p:cNvPr>
          <p:cNvSpPr txBox="1"/>
          <p:nvPr/>
        </p:nvSpPr>
        <p:spPr>
          <a:xfrm>
            <a:off x="3656286" y="6114833"/>
            <a:ext cx="1012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Provider B</a:t>
            </a:r>
            <a:endParaRPr lang="en-CA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C7B20EF-A109-4B98-B494-26055209F7F3}"/>
              </a:ext>
            </a:extLst>
          </p:cNvPr>
          <p:cNvCxnSpPr>
            <a:stCxn id="4" idx="2"/>
            <a:endCxn id="13" idx="0"/>
          </p:cNvCxnSpPr>
          <p:nvPr/>
        </p:nvCxnSpPr>
        <p:spPr>
          <a:xfrm flipH="1">
            <a:off x="9848661" y="2091350"/>
            <a:ext cx="182579" cy="298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BC7604A-0DB1-42FD-9B61-035289CC0FF8}"/>
              </a:ext>
            </a:extLst>
          </p:cNvPr>
          <p:cNvCxnSpPr>
            <a:endCxn id="13" idx="0"/>
          </p:cNvCxnSpPr>
          <p:nvPr/>
        </p:nvCxnSpPr>
        <p:spPr>
          <a:xfrm>
            <a:off x="9840074" y="2020783"/>
            <a:ext cx="8587" cy="3693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786CCBB-8D75-43BD-BA4D-6D4FE502E4D2}"/>
              </a:ext>
            </a:extLst>
          </p:cNvPr>
          <p:cNvCxnSpPr>
            <a:stCxn id="6" idx="2"/>
            <a:endCxn id="13" idx="0"/>
          </p:cNvCxnSpPr>
          <p:nvPr/>
        </p:nvCxnSpPr>
        <p:spPr>
          <a:xfrm>
            <a:off x="9666082" y="2091350"/>
            <a:ext cx="182579" cy="298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0165907-647C-42D6-8B4A-B20D4B823254}"/>
              </a:ext>
            </a:extLst>
          </p:cNvPr>
          <p:cNvCxnSpPr/>
          <p:nvPr/>
        </p:nvCxnSpPr>
        <p:spPr>
          <a:xfrm flipH="1">
            <a:off x="7411769" y="2098896"/>
            <a:ext cx="182579" cy="298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0F08056-91D2-4A95-B85D-66CFBA1BC1D2}"/>
              </a:ext>
            </a:extLst>
          </p:cNvPr>
          <p:cNvCxnSpPr/>
          <p:nvPr/>
        </p:nvCxnSpPr>
        <p:spPr>
          <a:xfrm>
            <a:off x="7403182" y="2028329"/>
            <a:ext cx="8587" cy="3693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71364C2-372F-4150-B7A1-F288BC9CCCF5}"/>
              </a:ext>
            </a:extLst>
          </p:cNvPr>
          <p:cNvCxnSpPr/>
          <p:nvPr/>
        </p:nvCxnSpPr>
        <p:spPr>
          <a:xfrm>
            <a:off x="7229190" y="2098896"/>
            <a:ext cx="182579" cy="298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43026B9-CCB8-4FF2-85A9-5E584281D189}"/>
              </a:ext>
            </a:extLst>
          </p:cNvPr>
          <p:cNvCxnSpPr/>
          <p:nvPr/>
        </p:nvCxnSpPr>
        <p:spPr>
          <a:xfrm flipH="1">
            <a:off x="4260969" y="2091350"/>
            <a:ext cx="182579" cy="298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CF9A6B4-1367-4829-925D-86D0BEAFDFCC}"/>
              </a:ext>
            </a:extLst>
          </p:cNvPr>
          <p:cNvCxnSpPr/>
          <p:nvPr/>
        </p:nvCxnSpPr>
        <p:spPr>
          <a:xfrm>
            <a:off x="4252382" y="2020783"/>
            <a:ext cx="8587" cy="3693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833F57A-EAEC-42EB-88C8-AD78ED108413}"/>
              </a:ext>
            </a:extLst>
          </p:cNvPr>
          <p:cNvCxnSpPr/>
          <p:nvPr/>
        </p:nvCxnSpPr>
        <p:spPr>
          <a:xfrm>
            <a:off x="4078390" y="2091350"/>
            <a:ext cx="182579" cy="298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56F54E7-99AB-4A7D-829B-6DE2D976A91A}"/>
              </a:ext>
            </a:extLst>
          </p:cNvPr>
          <p:cNvCxnSpPr>
            <a:stCxn id="13" idx="2"/>
            <a:endCxn id="16" idx="0"/>
          </p:cNvCxnSpPr>
          <p:nvPr/>
        </p:nvCxnSpPr>
        <p:spPr>
          <a:xfrm flipH="1">
            <a:off x="8556467" y="2607398"/>
            <a:ext cx="1292194" cy="3879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1287ABA-0F2F-4C68-AB5D-D2EA4692372F}"/>
              </a:ext>
            </a:extLst>
          </p:cNvPr>
          <p:cNvCxnSpPr>
            <a:stCxn id="14" idx="2"/>
            <a:endCxn id="16" idx="0"/>
          </p:cNvCxnSpPr>
          <p:nvPr/>
        </p:nvCxnSpPr>
        <p:spPr>
          <a:xfrm>
            <a:off x="7402716" y="2610573"/>
            <a:ext cx="1153751" cy="3847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8D1291E-0915-40EC-AB38-2CA009F839B7}"/>
              </a:ext>
            </a:extLst>
          </p:cNvPr>
          <p:cNvCxnSpPr>
            <a:stCxn id="15" idx="2"/>
            <a:endCxn id="17" idx="0"/>
          </p:cNvCxnSpPr>
          <p:nvPr/>
        </p:nvCxnSpPr>
        <p:spPr>
          <a:xfrm flipH="1">
            <a:off x="3570268" y="2607398"/>
            <a:ext cx="699949" cy="3879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C4082D5-A6B2-4553-8A3F-F0616F58BEC2}"/>
              </a:ext>
            </a:extLst>
          </p:cNvPr>
          <p:cNvCxnSpPr>
            <a:stCxn id="16" idx="2"/>
            <a:endCxn id="18" idx="0"/>
          </p:cNvCxnSpPr>
          <p:nvPr/>
        </p:nvCxnSpPr>
        <p:spPr>
          <a:xfrm flipH="1">
            <a:off x="7156762" y="3466079"/>
            <a:ext cx="1399705" cy="62926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5430102-1A9D-4B11-BD8A-31E39EA3186D}"/>
              </a:ext>
            </a:extLst>
          </p:cNvPr>
          <p:cNvCxnSpPr>
            <a:stCxn id="17" idx="2"/>
            <a:endCxn id="19" idx="0"/>
          </p:cNvCxnSpPr>
          <p:nvPr/>
        </p:nvCxnSpPr>
        <p:spPr>
          <a:xfrm>
            <a:off x="3570268" y="3466079"/>
            <a:ext cx="945902" cy="62926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A9C9CED7-559C-4A9B-BFB3-E7297D2D742F}"/>
              </a:ext>
            </a:extLst>
          </p:cNvPr>
          <p:cNvSpPr/>
          <p:nvPr/>
        </p:nvSpPr>
        <p:spPr>
          <a:xfrm>
            <a:off x="4401258" y="4892930"/>
            <a:ext cx="1457979" cy="669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Edge</a:t>
            </a:r>
            <a:endParaRPr lang="en-CA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9041535-EFFE-44E8-A467-AE3BA0E258BC}"/>
              </a:ext>
            </a:extLst>
          </p:cNvPr>
          <p:cNvCxnSpPr>
            <a:stCxn id="18" idx="2"/>
            <a:endCxn id="23" idx="0"/>
          </p:cNvCxnSpPr>
          <p:nvPr/>
        </p:nvCxnSpPr>
        <p:spPr>
          <a:xfrm flipH="1">
            <a:off x="6881572" y="4674763"/>
            <a:ext cx="275190" cy="21816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C4BF408-804B-44A2-B82A-04B36D9DA307}"/>
              </a:ext>
            </a:extLst>
          </p:cNvPr>
          <p:cNvCxnSpPr>
            <a:stCxn id="19" idx="2"/>
            <a:endCxn id="55" idx="0"/>
          </p:cNvCxnSpPr>
          <p:nvPr/>
        </p:nvCxnSpPr>
        <p:spPr>
          <a:xfrm>
            <a:off x="4516170" y="4674763"/>
            <a:ext cx="614078" cy="21816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50E3E0D-EC89-4DB7-ADC1-C8A49F246EFB}"/>
              </a:ext>
            </a:extLst>
          </p:cNvPr>
          <p:cNvCxnSpPr>
            <a:endCxn id="20" idx="0"/>
          </p:cNvCxnSpPr>
          <p:nvPr/>
        </p:nvCxnSpPr>
        <p:spPr>
          <a:xfrm flipH="1">
            <a:off x="5982266" y="5562887"/>
            <a:ext cx="899306" cy="43905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E38E2CD-1DFA-45EF-B585-A87A20F8012B}"/>
              </a:ext>
            </a:extLst>
          </p:cNvPr>
          <p:cNvCxnSpPr>
            <a:stCxn id="55" idx="4"/>
            <a:endCxn id="20" idx="0"/>
          </p:cNvCxnSpPr>
          <p:nvPr/>
        </p:nvCxnSpPr>
        <p:spPr>
          <a:xfrm>
            <a:off x="5130248" y="5562887"/>
            <a:ext cx="852018" cy="43905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B570CE4F-3331-48EA-B184-D73B76221DBB}"/>
              </a:ext>
            </a:extLst>
          </p:cNvPr>
          <p:cNvCxnSpPr>
            <a:stCxn id="18" idx="1"/>
            <a:endCxn id="19" idx="3"/>
          </p:cNvCxnSpPr>
          <p:nvPr/>
        </p:nvCxnSpPr>
        <p:spPr>
          <a:xfrm flipH="1">
            <a:off x="5520350" y="4385052"/>
            <a:ext cx="63223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6D25AE2-F8F7-4623-9F74-2F04EE28870F}"/>
              </a:ext>
            </a:extLst>
          </p:cNvPr>
          <p:cNvCxnSpPr>
            <a:cxnSpLocks/>
            <a:endCxn id="55" idx="0"/>
          </p:cNvCxnSpPr>
          <p:nvPr/>
        </p:nvCxnSpPr>
        <p:spPr>
          <a:xfrm flipH="1">
            <a:off x="5130248" y="4674763"/>
            <a:ext cx="2026514" cy="2181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81B1BE1-6B2A-472A-9208-6D05CABD16C6}"/>
              </a:ext>
            </a:extLst>
          </p:cNvPr>
          <p:cNvCxnSpPr>
            <a:cxnSpLocks/>
            <a:endCxn id="55" idx="0"/>
          </p:cNvCxnSpPr>
          <p:nvPr/>
        </p:nvCxnSpPr>
        <p:spPr>
          <a:xfrm>
            <a:off x="4516170" y="4674763"/>
            <a:ext cx="614078" cy="2181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4A6AACC-C60E-4CC4-AFF7-395F51F11BE9}"/>
              </a:ext>
            </a:extLst>
          </p:cNvPr>
          <p:cNvCxnSpPr>
            <a:cxnSpLocks/>
          </p:cNvCxnSpPr>
          <p:nvPr/>
        </p:nvCxnSpPr>
        <p:spPr>
          <a:xfrm>
            <a:off x="4516170" y="4674763"/>
            <a:ext cx="2365402" cy="2181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7352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9D12C-E5D4-4A0B-9987-79308F493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Failure</a:t>
            </a:r>
            <a:endParaRPr lang="en-CA" dirty="0"/>
          </a:p>
        </p:txBody>
      </p:sp>
      <p:pic>
        <p:nvPicPr>
          <p:cNvPr id="22" name="Content Placeholder 21" descr="Badge Cross">
            <a:extLst>
              <a:ext uri="{FF2B5EF4-FFF2-40B4-BE49-F238E27FC236}">
                <a16:creationId xmlns:a16="http://schemas.microsoft.com/office/drawing/2014/main" id="{F5E0988F-1226-4FA7-B84B-B3CD77AD82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08098" y="4674762"/>
            <a:ext cx="713144" cy="598149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579628B-F7A1-4B65-BA97-416CBD3DB0C4}"/>
              </a:ext>
            </a:extLst>
          </p:cNvPr>
          <p:cNvSpPr/>
          <p:nvPr/>
        </p:nvSpPr>
        <p:spPr>
          <a:xfrm>
            <a:off x="9967865" y="1955549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411B43-88C5-4E23-8A7F-3A3960A868D8}"/>
              </a:ext>
            </a:extLst>
          </p:cNvPr>
          <p:cNvSpPr/>
          <p:nvPr/>
        </p:nvSpPr>
        <p:spPr>
          <a:xfrm>
            <a:off x="9785286" y="1887648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D9E1B6-68FF-41AD-A806-3618EB708708}"/>
              </a:ext>
            </a:extLst>
          </p:cNvPr>
          <p:cNvSpPr/>
          <p:nvPr/>
        </p:nvSpPr>
        <p:spPr>
          <a:xfrm>
            <a:off x="9602707" y="1955549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8ECB01-7172-4099-AA6C-6FF0F6248256}"/>
              </a:ext>
            </a:extLst>
          </p:cNvPr>
          <p:cNvSpPr/>
          <p:nvPr/>
        </p:nvSpPr>
        <p:spPr>
          <a:xfrm>
            <a:off x="7521920" y="1955549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019A70-4450-4A1E-95C1-6CCAD9CD13A8}"/>
              </a:ext>
            </a:extLst>
          </p:cNvPr>
          <p:cNvSpPr/>
          <p:nvPr/>
        </p:nvSpPr>
        <p:spPr>
          <a:xfrm>
            <a:off x="7339341" y="1887648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E83AD2-C6C6-4841-AAFC-BC32A094B50C}"/>
              </a:ext>
            </a:extLst>
          </p:cNvPr>
          <p:cNvSpPr/>
          <p:nvPr/>
        </p:nvSpPr>
        <p:spPr>
          <a:xfrm>
            <a:off x="7156762" y="1955549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B86B87-7C8E-4567-A6D2-61F5FD5BD14E}"/>
              </a:ext>
            </a:extLst>
          </p:cNvPr>
          <p:cNvSpPr/>
          <p:nvPr/>
        </p:nvSpPr>
        <p:spPr>
          <a:xfrm>
            <a:off x="4389421" y="1955549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1EC178-A4B0-426D-BA7A-7FD9BCE11A7C}"/>
              </a:ext>
            </a:extLst>
          </p:cNvPr>
          <p:cNvSpPr/>
          <p:nvPr/>
        </p:nvSpPr>
        <p:spPr>
          <a:xfrm>
            <a:off x="4206842" y="1887648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E2BB98-807D-455A-8790-1A05BA15F83B}"/>
              </a:ext>
            </a:extLst>
          </p:cNvPr>
          <p:cNvSpPr/>
          <p:nvPr/>
        </p:nvSpPr>
        <p:spPr>
          <a:xfrm>
            <a:off x="4024263" y="1955549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A4710E-9340-4F7E-B743-A25494B0725D}"/>
              </a:ext>
            </a:extLst>
          </p:cNvPr>
          <p:cNvSpPr/>
          <p:nvPr/>
        </p:nvSpPr>
        <p:spPr>
          <a:xfrm>
            <a:off x="9729456" y="2390115"/>
            <a:ext cx="238409" cy="2172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39542E-DF7E-43E4-B3D3-6B35A5BC1BFE}"/>
              </a:ext>
            </a:extLst>
          </p:cNvPr>
          <p:cNvSpPr/>
          <p:nvPr/>
        </p:nvSpPr>
        <p:spPr>
          <a:xfrm>
            <a:off x="7283511" y="2393290"/>
            <a:ext cx="238409" cy="2172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27F8E4-D5F3-4F24-9F9B-28F8A9EA321D}"/>
              </a:ext>
            </a:extLst>
          </p:cNvPr>
          <p:cNvSpPr/>
          <p:nvPr/>
        </p:nvSpPr>
        <p:spPr>
          <a:xfrm>
            <a:off x="4151012" y="2390115"/>
            <a:ext cx="238409" cy="2172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94A53A-02BB-42A3-B928-CF502824A85D}"/>
              </a:ext>
            </a:extLst>
          </p:cNvPr>
          <p:cNvSpPr/>
          <p:nvPr/>
        </p:nvSpPr>
        <p:spPr>
          <a:xfrm>
            <a:off x="8095683" y="2995298"/>
            <a:ext cx="921568" cy="47078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Agg</a:t>
            </a:r>
            <a:endParaRPr lang="en-CA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7CEC96-BB07-4013-9E96-33571FE6751E}"/>
              </a:ext>
            </a:extLst>
          </p:cNvPr>
          <p:cNvSpPr/>
          <p:nvPr/>
        </p:nvSpPr>
        <p:spPr>
          <a:xfrm>
            <a:off x="3109484" y="2995298"/>
            <a:ext cx="921568" cy="47078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Agg</a:t>
            </a:r>
            <a:endParaRPr lang="en-CA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EC410A4-4086-47BA-9493-1A183F6846DA}"/>
              </a:ext>
            </a:extLst>
          </p:cNvPr>
          <p:cNvSpPr/>
          <p:nvPr/>
        </p:nvSpPr>
        <p:spPr>
          <a:xfrm>
            <a:off x="6152582" y="4095341"/>
            <a:ext cx="2008360" cy="57942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Core Router</a:t>
            </a:r>
            <a:endParaRPr lang="en-CA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913475-B39D-418C-9037-6DFA4B720446}"/>
              </a:ext>
            </a:extLst>
          </p:cNvPr>
          <p:cNvSpPr/>
          <p:nvPr/>
        </p:nvSpPr>
        <p:spPr>
          <a:xfrm>
            <a:off x="3511990" y="4095341"/>
            <a:ext cx="2008360" cy="57942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Core Router</a:t>
            </a:r>
            <a:endParaRPr lang="en-CA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13925E-3E89-409A-A67D-192ACB381138}"/>
              </a:ext>
            </a:extLst>
          </p:cNvPr>
          <p:cNvSpPr/>
          <p:nvPr/>
        </p:nvSpPr>
        <p:spPr>
          <a:xfrm>
            <a:off x="4923765" y="6233721"/>
            <a:ext cx="2008360" cy="57942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069BD72-9F83-4243-8568-5BEF750C481E}"/>
              </a:ext>
            </a:extLst>
          </p:cNvPr>
          <p:cNvSpPr/>
          <p:nvPr/>
        </p:nvSpPr>
        <p:spPr>
          <a:xfrm>
            <a:off x="6152582" y="5264120"/>
            <a:ext cx="1457979" cy="669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Edge</a:t>
            </a:r>
            <a:endParaRPr lang="en-CA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E7272A-5600-4693-8B33-7AC1B8A828EF}"/>
              </a:ext>
            </a:extLst>
          </p:cNvPr>
          <p:cNvSpPr txBox="1"/>
          <p:nvPr/>
        </p:nvSpPr>
        <p:spPr>
          <a:xfrm>
            <a:off x="10205232" y="1564482"/>
            <a:ext cx="1063593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Home Internet</a:t>
            </a:r>
            <a:endParaRPr lang="en-CA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6D9B15-0B9A-4430-AB3B-13B7CDD1B801}"/>
              </a:ext>
            </a:extLst>
          </p:cNvPr>
          <p:cNvSpPr txBox="1"/>
          <p:nvPr/>
        </p:nvSpPr>
        <p:spPr>
          <a:xfrm>
            <a:off x="8849571" y="2314090"/>
            <a:ext cx="75313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BRAS</a:t>
            </a:r>
            <a:endParaRPr lang="en-CA" dirty="0"/>
          </a:p>
        </p:txBody>
      </p:sp>
      <p:sp>
        <p:nvSpPr>
          <p:cNvPr id="29" name="Right Brace 28">
            <a:extLst>
              <a:ext uri="{FF2B5EF4-FFF2-40B4-BE49-F238E27FC236}">
                <a16:creationId xmlns:a16="http://schemas.microsoft.com/office/drawing/2014/main" id="{1E6F0F67-3989-4DFF-9D12-8E9E9868061D}"/>
              </a:ext>
            </a:extLst>
          </p:cNvPr>
          <p:cNvSpPr/>
          <p:nvPr/>
        </p:nvSpPr>
        <p:spPr>
          <a:xfrm rot="16200000">
            <a:off x="5743279" y="4827686"/>
            <a:ext cx="369332" cy="260249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833C067-F73E-4E4D-80DA-A9BAECB73310}"/>
              </a:ext>
            </a:extLst>
          </p:cNvPr>
          <p:cNvSpPr txBox="1"/>
          <p:nvPr/>
        </p:nvSpPr>
        <p:spPr>
          <a:xfrm>
            <a:off x="3656286" y="6114833"/>
            <a:ext cx="1012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Provider B</a:t>
            </a:r>
            <a:endParaRPr lang="en-CA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C7B20EF-A109-4B98-B494-26055209F7F3}"/>
              </a:ext>
            </a:extLst>
          </p:cNvPr>
          <p:cNvCxnSpPr>
            <a:stCxn id="4" idx="2"/>
            <a:endCxn id="13" idx="0"/>
          </p:cNvCxnSpPr>
          <p:nvPr/>
        </p:nvCxnSpPr>
        <p:spPr>
          <a:xfrm flipH="1">
            <a:off x="9848661" y="2091350"/>
            <a:ext cx="182579" cy="298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BC7604A-0DB1-42FD-9B61-035289CC0FF8}"/>
              </a:ext>
            </a:extLst>
          </p:cNvPr>
          <p:cNvCxnSpPr>
            <a:endCxn id="13" idx="0"/>
          </p:cNvCxnSpPr>
          <p:nvPr/>
        </p:nvCxnSpPr>
        <p:spPr>
          <a:xfrm>
            <a:off x="9840074" y="2020783"/>
            <a:ext cx="8587" cy="3693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786CCBB-8D75-43BD-BA4D-6D4FE502E4D2}"/>
              </a:ext>
            </a:extLst>
          </p:cNvPr>
          <p:cNvCxnSpPr>
            <a:stCxn id="6" idx="2"/>
            <a:endCxn id="13" idx="0"/>
          </p:cNvCxnSpPr>
          <p:nvPr/>
        </p:nvCxnSpPr>
        <p:spPr>
          <a:xfrm>
            <a:off x="9666082" y="2091350"/>
            <a:ext cx="182579" cy="298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0165907-647C-42D6-8B4A-B20D4B823254}"/>
              </a:ext>
            </a:extLst>
          </p:cNvPr>
          <p:cNvCxnSpPr/>
          <p:nvPr/>
        </p:nvCxnSpPr>
        <p:spPr>
          <a:xfrm flipH="1">
            <a:off x="7411769" y="2098896"/>
            <a:ext cx="182579" cy="298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0F08056-91D2-4A95-B85D-66CFBA1BC1D2}"/>
              </a:ext>
            </a:extLst>
          </p:cNvPr>
          <p:cNvCxnSpPr/>
          <p:nvPr/>
        </p:nvCxnSpPr>
        <p:spPr>
          <a:xfrm>
            <a:off x="7403182" y="2028329"/>
            <a:ext cx="8587" cy="3693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71364C2-372F-4150-B7A1-F288BC9CCCF5}"/>
              </a:ext>
            </a:extLst>
          </p:cNvPr>
          <p:cNvCxnSpPr/>
          <p:nvPr/>
        </p:nvCxnSpPr>
        <p:spPr>
          <a:xfrm>
            <a:off x="7229190" y="2098896"/>
            <a:ext cx="182579" cy="298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43026B9-CCB8-4FF2-85A9-5E584281D189}"/>
              </a:ext>
            </a:extLst>
          </p:cNvPr>
          <p:cNvCxnSpPr/>
          <p:nvPr/>
        </p:nvCxnSpPr>
        <p:spPr>
          <a:xfrm flipH="1">
            <a:off x="4260969" y="2091350"/>
            <a:ext cx="182579" cy="298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CF9A6B4-1367-4829-925D-86D0BEAFDFCC}"/>
              </a:ext>
            </a:extLst>
          </p:cNvPr>
          <p:cNvCxnSpPr/>
          <p:nvPr/>
        </p:nvCxnSpPr>
        <p:spPr>
          <a:xfrm>
            <a:off x="4252382" y="2020783"/>
            <a:ext cx="8587" cy="3693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833F57A-EAEC-42EB-88C8-AD78ED108413}"/>
              </a:ext>
            </a:extLst>
          </p:cNvPr>
          <p:cNvCxnSpPr/>
          <p:nvPr/>
        </p:nvCxnSpPr>
        <p:spPr>
          <a:xfrm>
            <a:off x="4078390" y="2091350"/>
            <a:ext cx="182579" cy="298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56F54E7-99AB-4A7D-829B-6DE2D976A91A}"/>
              </a:ext>
            </a:extLst>
          </p:cNvPr>
          <p:cNvCxnSpPr>
            <a:stCxn id="13" idx="2"/>
            <a:endCxn id="16" idx="0"/>
          </p:cNvCxnSpPr>
          <p:nvPr/>
        </p:nvCxnSpPr>
        <p:spPr>
          <a:xfrm flipH="1">
            <a:off x="8556467" y="2607398"/>
            <a:ext cx="1292194" cy="3879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1287ABA-0F2F-4C68-AB5D-D2EA4692372F}"/>
              </a:ext>
            </a:extLst>
          </p:cNvPr>
          <p:cNvCxnSpPr>
            <a:stCxn id="14" idx="2"/>
            <a:endCxn id="16" idx="0"/>
          </p:cNvCxnSpPr>
          <p:nvPr/>
        </p:nvCxnSpPr>
        <p:spPr>
          <a:xfrm>
            <a:off x="7402716" y="2610573"/>
            <a:ext cx="1153751" cy="3847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8D1291E-0915-40EC-AB38-2CA009F839B7}"/>
              </a:ext>
            </a:extLst>
          </p:cNvPr>
          <p:cNvCxnSpPr>
            <a:stCxn id="15" idx="2"/>
            <a:endCxn id="17" idx="0"/>
          </p:cNvCxnSpPr>
          <p:nvPr/>
        </p:nvCxnSpPr>
        <p:spPr>
          <a:xfrm flipH="1">
            <a:off x="3570268" y="2607398"/>
            <a:ext cx="699949" cy="3879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C4082D5-A6B2-4553-8A3F-F0616F58BEC2}"/>
              </a:ext>
            </a:extLst>
          </p:cNvPr>
          <p:cNvCxnSpPr>
            <a:stCxn id="16" idx="2"/>
            <a:endCxn id="18" idx="0"/>
          </p:cNvCxnSpPr>
          <p:nvPr/>
        </p:nvCxnSpPr>
        <p:spPr>
          <a:xfrm flipH="1">
            <a:off x="7156762" y="3466079"/>
            <a:ext cx="1399705" cy="62926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5430102-1A9D-4B11-BD8A-31E39EA3186D}"/>
              </a:ext>
            </a:extLst>
          </p:cNvPr>
          <p:cNvCxnSpPr>
            <a:stCxn id="17" idx="2"/>
            <a:endCxn id="19" idx="0"/>
          </p:cNvCxnSpPr>
          <p:nvPr/>
        </p:nvCxnSpPr>
        <p:spPr>
          <a:xfrm>
            <a:off x="3570268" y="3466079"/>
            <a:ext cx="945902" cy="62926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A9C9CED7-559C-4A9B-BFB3-E7297D2D742F}"/>
              </a:ext>
            </a:extLst>
          </p:cNvPr>
          <p:cNvSpPr/>
          <p:nvPr/>
        </p:nvSpPr>
        <p:spPr>
          <a:xfrm>
            <a:off x="4401258" y="5264119"/>
            <a:ext cx="1457979" cy="669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Edge</a:t>
            </a:r>
            <a:endParaRPr lang="en-CA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9041535-EFFE-44E8-A467-AE3BA0E258BC}"/>
              </a:ext>
            </a:extLst>
          </p:cNvPr>
          <p:cNvCxnSpPr>
            <a:stCxn id="18" idx="2"/>
            <a:endCxn id="23" idx="0"/>
          </p:cNvCxnSpPr>
          <p:nvPr/>
        </p:nvCxnSpPr>
        <p:spPr>
          <a:xfrm flipH="1">
            <a:off x="6881572" y="4674763"/>
            <a:ext cx="275190" cy="58935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C4BF408-804B-44A2-B82A-04B36D9DA307}"/>
              </a:ext>
            </a:extLst>
          </p:cNvPr>
          <p:cNvCxnSpPr>
            <a:stCxn id="19" idx="2"/>
            <a:endCxn id="55" idx="0"/>
          </p:cNvCxnSpPr>
          <p:nvPr/>
        </p:nvCxnSpPr>
        <p:spPr>
          <a:xfrm>
            <a:off x="4516170" y="4674763"/>
            <a:ext cx="614078" cy="58935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50E3E0D-EC89-4DB7-ADC1-C8A49F246EFB}"/>
              </a:ext>
            </a:extLst>
          </p:cNvPr>
          <p:cNvCxnSpPr>
            <a:cxnSpLocks/>
            <a:stCxn id="23" idx="4"/>
            <a:endCxn id="20" idx="0"/>
          </p:cNvCxnSpPr>
          <p:nvPr/>
        </p:nvCxnSpPr>
        <p:spPr>
          <a:xfrm flipH="1">
            <a:off x="5927945" y="5934077"/>
            <a:ext cx="953627" cy="29964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E38E2CD-1DFA-45EF-B585-A87A20F8012B}"/>
              </a:ext>
            </a:extLst>
          </p:cNvPr>
          <p:cNvCxnSpPr>
            <a:stCxn id="55" idx="4"/>
            <a:endCxn id="20" idx="0"/>
          </p:cNvCxnSpPr>
          <p:nvPr/>
        </p:nvCxnSpPr>
        <p:spPr>
          <a:xfrm>
            <a:off x="5130248" y="5934076"/>
            <a:ext cx="797697" cy="2996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B570CE4F-3331-48EA-B184-D73B76221DBB}"/>
              </a:ext>
            </a:extLst>
          </p:cNvPr>
          <p:cNvCxnSpPr>
            <a:stCxn id="18" idx="1"/>
            <a:endCxn id="19" idx="3"/>
          </p:cNvCxnSpPr>
          <p:nvPr/>
        </p:nvCxnSpPr>
        <p:spPr>
          <a:xfrm flipH="1">
            <a:off x="5520350" y="4385052"/>
            <a:ext cx="63223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54FAE41-7A36-46D9-A361-9578DC07BA15}"/>
              </a:ext>
            </a:extLst>
          </p:cNvPr>
          <p:cNvCxnSpPr>
            <a:stCxn id="18" idx="2"/>
            <a:endCxn id="55" idx="0"/>
          </p:cNvCxnSpPr>
          <p:nvPr/>
        </p:nvCxnSpPr>
        <p:spPr>
          <a:xfrm flipH="1">
            <a:off x="5130248" y="4674763"/>
            <a:ext cx="2026514" cy="5893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2822421-2FCA-493E-BB80-63C3B2469FF1}"/>
              </a:ext>
            </a:extLst>
          </p:cNvPr>
          <p:cNvCxnSpPr>
            <a:stCxn id="19" idx="2"/>
            <a:endCxn id="23" idx="0"/>
          </p:cNvCxnSpPr>
          <p:nvPr/>
        </p:nvCxnSpPr>
        <p:spPr>
          <a:xfrm>
            <a:off x="4516170" y="4674763"/>
            <a:ext cx="2365402" cy="5893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78FE11D6-7073-4DCB-BEE6-8A79E304E0D9}"/>
              </a:ext>
            </a:extLst>
          </p:cNvPr>
          <p:cNvSpPr txBox="1"/>
          <p:nvPr/>
        </p:nvSpPr>
        <p:spPr>
          <a:xfrm>
            <a:off x="271604" y="2076108"/>
            <a:ext cx="26677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link is down, e.g. cable cut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Network status updates will show a down link/interface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u="sng" dirty="0"/>
              <a:t>Easy</a:t>
            </a:r>
            <a:r>
              <a:rPr lang="en-US" dirty="0"/>
              <a:t> problem, to detect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01191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9D12C-E5D4-4A0B-9987-79308F493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Silent</a:t>
            </a:r>
            <a:r>
              <a:rPr lang="en-US" dirty="0"/>
              <a:t> Failure</a:t>
            </a:r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79628B-F7A1-4B65-BA97-416CBD3DB0C4}"/>
              </a:ext>
            </a:extLst>
          </p:cNvPr>
          <p:cNvSpPr/>
          <p:nvPr/>
        </p:nvSpPr>
        <p:spPr>
          <a:xfrm>
            <a:off x="9967865" y="1955549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411B43-88C5-4E23-8A7F-3A3960A868D8}"/>
              </a:ext>
            </a:extLst>
          </p:cNvPr>
          <p:cNvSpPr/>
          <p:nvPr/>
        </p:nvSpPr>
        <p:spPr>
          <a:xfrm>
            <a:off x="9785286" y="1887648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D9E1B6-68FF-41AD-A806-3618EB708708}"/>
              </a:ext>
            </a:extLst>
          </p:cNvPr>
          <p:cNvSpPr/>
          <p:nvPr/>
        </p:nvSpPr>
        <p:spPr>
          <a:xfrm>
            <a:off x="9602707" y="1955549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8ECB01-7172-4099-AA6C-6FF0F6248256}"/>
              </a:ext>
            </a:extLst>
          </p:cNvPr>
          <p:cNvSpPr/>
          <p:nvPr/>
        </p:nvSpPr>
        <p:spPr>
          <a:xfrm>
            <a:off x="7521920" y="1955549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019A70-4450-4A1E-95C1-6CCAD9CD13A8}"/>
              </a:ext>
            </a:extLst>
          </p:cNvPr>
          <p:cNvSpPr/>
          <p:nvPr/>
        </p:nvSpPr>
        <p:spPr>
          <a:xfrm>
            <a:off x="7339341" y="1887648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E83AD2-C6C6-4841-AAFC-BC32A094B50C}"/>
              </a:ext>
            </a:extLst>
          </p:cNvPr>
          <p:cNvSpPr/>
          <p:nvPr/>
        </p:nvSpPr>
        <p:spPr>
          <a:xfrm>
            <a:off x="7156762" y="1955549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B86B87-7C8E-4567-A6D2-61F5FD5BD14E}"/>
              </a:ext>
            </a:extLst>
          </p:cNvPr>
          <p:cNvSpPr/>
          <p:nvPr/>
        </p:nvSpPr>
        <p:spPr>
          <a:xfrm>
            <a:off x="4389421" y="1955549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1EC178-A4B0-426D-BA7A-7FD9BCE11A7C}"/>
              </a:ext>
            </a:extLst>
          </p:cNvPr>
          <p:cNvSpPr/>
          <p:nvPr/>
        </p:nvSpPr>
        <p:spPr>
          <a:xfrm>
            <a:off x="4206842" y="1887648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E2BB98-807D-455A-8790-1A05BA15F83B}"/>
              </a:ext>
            </a:extLst>
          </p:cNvPr>
          <p:cNvSpPr/>
          <p:nvPr/>
        </p:nvSpPr>
        <p:spPr>
          <a:xfrm>
            <a:off x="4024263" y="1955549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A4710E-9340-4F7E-B743-A25494B0725D}"/>
              </a:ext>
            </a:extLst>
          </p:cNvPr>
          <p:cNvSpPr/>
          <p:nvPr/>
        </p:nvSpPr>
        <p:spPr>
          <a:xfrm>
            <a:off x="9729456" y="2390115"/>
            <a:ext cx="238409" cy="2172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39542E-DF7E-43E4-B3D3-6B35A5BC1BFE}"/>
              </a:ext>
            </a:extLst>
          </p:cNvPr>
          <p:cNvSpPr/>
          <p:nvPr/>
        </p:nvSpPr>
        <p:spPr>
          <a:xfrm>
            <a:off x="7283511" y="2393290"/>
            <a:ext cx="238409" cy="2172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27F8E4-D5F3-4F24-9F9B-28F8A9EA321D}"/>
              </a:ext>
            </a:extLst>
          </p:cNvPr>
          <p:cNvSpPr/>
          <p:nvPr/>
        </p:nvSpPr>
        <p:spPr>
          <a:xfrm>
            <a:off x="4151012" y="2390115"/>
            <a:ext cx="238409" cy="2172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94A53A-02BB-42A3-B928-CF502824A85D}"/>
              </a:ext>
            </a:extLst>
          </p:cNvPr>
          <p:cNvSpPr/>
          <p:nvPr/>
        </p:nvSpPr>
        <p:spPr>
          <a:xfrm>
            <a:off x="8095683" y="2995298"/>
            <a:ext cx="921568" cy="47078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Agg</a:t>
            </a:r>
            <a:endParaRPr lang="en-CA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7CEC96-BB07-4013-9E96-33571FE6751E}"/>
              </a:ext>
            </a:extLst>
          </p:cNvPr>
          <p:cNvSpPr/>
          <p:nvPr/>
        </p:nvSpPr>
        <p:spPr>
          <a:xfrm>
            <a:off x="3109484" y="2995298"/>
            <a:ext cx="921568" cy="47078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Agg</a:t>
            </a:r>
            <a:endParaRPr lang="en-CA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EC410A4-4086-47BA-9493-1A183F6846DA}"/>
              </a:ext>
            </a:extLst>
          </p:cNvPr>
          <p:cNvSpPr/>
          <p:nvPr/>
        </p:nvSpPr>
        <p:spPr>
          <a:xfrm>
            <a:off x="6152582" y="4095341"/>
            <a:ext cx="2008360" cy="57942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Core Router</a:t>
            </a:r>
            <a:endParaRPr lang="en-CA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913475-B39D-418C-9037-6DFA4B720446}"/>
              </a:ext>
            </a:extLst>
          </p:cNvPr>
          <p:cNvSpPr/>
          <p:nvPr/>
        </p:nvSpPr>
        <p:spPr>
          <a:xfrm>
            <a:off x="3511990" y="4095341"/>
            <a:ext cx="2008360" cy="57942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Core Router</a:t>
            </a:r>
            <a:endParaRPr lang="en-CA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13925E-3E89-409A-A67D-192ACB381138}"/>
              </a:ext>
            </a:extLst>
          </p:cNvPr>
          <p:cNvSpPr/>
          <p:nvPr/>
        </p:nvSpPr>
        <p:spPr>
          <a:xfrm>
            <a:off x="4923765" y="6233721"/>
            <a:ext cx="2008360" cy="57942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069BD72-9F83-4243-8568-5BEF750C481E}"/>
              </a:ext>
            </a:extLst>
          </p:cNvPr>
          <p:cNvSpPr/>
          <p:nvPr/>
        </p:nvSpPr>
        <p:spPr>
          <a:xfrm>
            <a:off x="6152582" y="5264120"/>
            <a:ext cx="1457979" cy="669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Edge</a:t>
            </a:r>
            <a:endParaRPr lang="en-CA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E7272A-5600-4693-8B33-7AC1B8A828EF}"/>
              </a:ext>
            </a:extLst>
          </p:cNvPr>
          <p:cNvSpPr txBox="1"/>
          <p:nvPr/>
        </p:nvSpPr>
        <p:spPr>
          <a:xfrm>
            <a:off x="10205232" y="1564482"/>
            <a:ext cx="1063593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Home Internet</a:t>
            </a:r>
            <a:endParaRPr lang="en-CA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6D9B15-0B9A-4430-AB3B-13B7CDD1B801}"/>
              </a:ext>
            </a:extLst>
          </p:cNvPr>
          <p:cNvSpPr txBox="1"/>
          <p:nvPr/>
        </p:nvSpPr>
        <p:spPr>
          <a:xfrm>
            <a:off x="8849571" y="2314090"/>
            <a:ext cx="75313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BRAS</a:t>
            </a:r>
            <a:endParaRPr lang="en-CA" dirty="0"/>
          </a:p>
        </p:txBody>
      </p:sp>
      <p:sp>
        <p:nvSpPr>
          <p:cNvPr id="29" name="Right Brace 28">
            <a:extLst>
              <a:ext uri="{FF2B5EF4-FFF2-40B4-BE49-F238E27FC236}">
                <a16:creationId xmlns:a16="http://schemas.microsoft.com/office/drawing/2014/main" id="{1E6F0F67-3989-4DFF-9D12-8E9E9868061D}"/>
              </a:ext>
            </a:extLst>
          </p:cNvPr>
          <p:cNvSpPr/>
          <p:nvPr/>
        </p:nvSpPr>
        <p:spPr>
          <a:xfrm rot="16200000">
            <a:off x="5743279" y="4827686"/>
            <a:ext cx="369332" cy="260249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833C067-F73E-4E4D-80DA-A9BAECB73310}"/>
              </a:ext>
            </a:extLst>
          </p:cNvPr>
          <p:cNvSpPr txBox="1"/>
          <p:nvPr/>
        </p:nvSpPr>
        <p:spPr>
          <a:xfrm>
            <a:off x="3656286" y="6114833"/>
            <a:ext cx="1012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Provider B</a:t>
            </a:r>
            <a:endParaRPr lang="en-CA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C7B20EF-A109-4B98-B494-26055209F7F3}"/>
              </a:ext>
            </a:extLst>
          </p:cNvPr>
          <p:cNvCxnSpPr>
            <a:stCxn id="4" idx="2"/>
            <a:endCxn id="13" idx="0"/>
          </p:cNvCxnSpPr>
          <p:nvPr/>
        </p:nvCxnSpPr>
        <p:spPr>
          <a:xfrm flipH="1">
            <a:off x="9848661" y="2091350"/>
            <a:ext cx="182579" cy="298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BC7604A-0DB1-42FD-9B61-035289CC0FF8}"/>
              </a:ext>
            </a:extLst>
          </p:cNvPr>
          <p:cNvCxnSpPr>
            <a:endCxn id="13" idx="0"/>
          </p:cNvCxnSpPr>
          <p:nvPr/>
        </p:nvCxnSpPr>
        <p:spPr>
          <a:xfrm>
            <a:off x="9840074" y="2020783"/>
            <a:ext cx="8587" cy="3693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786CCBB-8D75-43BD-BA4D-6D4FE502E4D2}"/>
              </a:ext>
            </a:extLst>
          </p:cNvPr>
          <p:cNvCxnSpPr>
            <a:stCxn id="6" idx="2"/>
            <a:endCxn id="13" idx="0"/>
          </p:cNvCxnSpPr>
          <p:nvPr/>
        </p:nvCxnSpPr>
        <p:spPr>
          <a:xfrm>
            <a:off x="9666082" y="2091350"/>
            <a:ext cx="182579" cy="298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0165907-647C-42D6-8B4A-B20D4B823254}"/>
              </a:ext>
            </a:extLst>
          </p:cNvPr>
          <p:cNvCxnSpPr/>
          <p:nvPr/>
        </p:nvCxnSpPr>
        <p:spPr>
          <a:xfrm flipH="1">
            <a:off x="7411769" y="2098896"/>
            <a:ext cx="182579" cy="298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0F08056-91D2-4A95-B85D-66CFBA1BC1D2}"/>
              </a:ext>
            </a:extLst>
          </p:cNvPr>
          <p:cNvCxnSpPr/>
          <p:nvPr/>
        </p:nvCxnSpPr>
        <p:spPr>
          <a:xfrm>
            <a:off x="7403182" y="2028329"/>
            <a:ext cx="8587" cy="3693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71364C2-372F-4150-B7A1-F288BC9CCCF5}"/>
              </a:ext>
            </a:extLst>
          </p:cNvPr>
          <p:cNvCxnSpPr/>
          <p:nvPr/>
        </p:nvCxnSpPr>
        <p:spPr>
          <a:xfrm>
            <a:off x="7229190" y="2098896"/>
            <a:ext cx="182579" cy="298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43026B9-CCB8-4FF2-85A9-5E584281D189}"/>
              </a:ext>
            </a:extLst>
          </p:cNvPr>
          <p:cNvCxnSpPr/>
          <p:nvPr/>
        </p:nvCxnSpPr>
        <p:spPr>
          <a:xfrm flipH="1">
            <a:off x="4260969" y="2091350"/>
            <a:ext cx="182579" cy="298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CF9A6B4-1367-4829-925D-86D0BEAFDFCC}"/>
              </a:ext>
            </a:extLst>
          </p:cNvPr>
          <p:cNvCxnSpPr/>
          <p:nvPr/>
        </p:nvCxnSpPr>
        <p:spPr>
          <a:xfrm>
            <a:off x="4252382" y="2020783"/>
            <a:ext cx="8587" cy="3693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833F57A-EAEC-42EB-88C8-AD78ED108413}"/>
              </a:ext>
            </a:extLst>
          </p:cNvPr>
          <p:cNvCxnSpPr/>
          <p:nvPr/>
        </p:nvCxnSpPr>
        <p:spPr>
          <a:xfrm>
            <a:off x="4078390" y="2091350"/>
            <a:ext cx="182579" cy="298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56F54E7-99AB-4A7D-829B-6DE2D976A91A}"/>
              </a:ext>
            </a:extLst>
          </p:cNvPr>
          <p:cNvCxnSpPr>
            <a:stCxn id="13" idx="2"/>
            <a:endCxn id="16" idx="0"/>
          </p:cNvCxnSpPr>
          <p:nvPr/>
        </p:nvCxnSpPr>
        <p:spPr>
          <a:xfrm flipH="1">
            <a:off x="8556467" y="2607398"/>
            <a:ext cx="1292194" cy="3879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1287ABA-0F2F-4C68-AB5D-D2EA4692372F}"/>
              </a:ext>
            </a:extLst>
          </p:cNvPr>
          <p:cNvCxnSpPr>
            <a:stCxn id="14" idx="2"/>
            <a:endCxn id="16" idx="0"/>
          </p:cNvCxnSpPr>
          <p:nvPr/>
        </p:nvCxnSpPr>
        <p:spPr>
          <a:xfrm>
            <a:off x="7402716" y="2610573"/>
            <a:ext cx="1153751" cy="3847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8D1291E-0915-40EC-AB38-2CA009F839B7}"/>
              </a:ext>
            </a:extLst>
          </p:cNvPr>
          <p:cNvCxnSpPr>
            <a:stCxn id="15" idx="2"/>
            <a:endCxn id="17" idx="0"/>
          </p:cNvCxnSpPr>
          <p:nvPr/>
        </p:nvCxnSpPr>
        <p:spPr>
          <a:xfrm flipH="1">
            <a:off x="3570268" y="2607398"/>
            <a:ext cx="699949" cy="3879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C4082D5-A6B2-4553-8A3F-F0616F58BEC2}"/>
              </a:ext>
            </a:extLst>
          </p:cNvPr>
          <p:cNvCxnSpPr>
            <a:stCxn id="16" idx="2"/>
            <a:endCxn id="18" idx="0"/>
          </p:cNvCxnSpPr>
          <p:nvPr/>
        </p:nvCxnSpPr>
        <p:spPr>
          <a:xfrm flipH="1">
            <a:off x="7156762" y="3466079"/>
            <a:ext cx="1399705" cy="62926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5430102-1A9D-4B11-BD8A-31E39EA3186D}"/>
              </a:ext>
            </a:extLst>
          </p:cNvPr>
          <p:cNvCxnSpPr>
            <a:stCxn id="17" idx="2"/>
            <a:endCxn id="19" idx="0"/>
          </p:cNvCxnSpPr>
          <p:nvPr/>
        </p:nvCxnSpPr>
        <p:spPr>
          <a:xfrm>
            <a:off x="3570268" y="3466079"/>
            <a:ext cx="945902" cy="62926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A9C9CED7-559C-4A9B-BFB3-E7297D2D742F}"/>
              </a:ext>
            </a:extLst>
          </p:cNvPr>
          <p:cNvSpPr/>
          <p:nvPr/>
        </p:nvSpPr>
        <p:spPr>
          <a:xfrm>
            <a:off x="4401258" y="5264119"/>
            <a:ext cx="1457979" cy="669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Edge</a:t>
            </a:r>
            <a:endParaRPr lang="en-CA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9041535-EFFE-44E8-A467-AE3BA0E258BC}"/>
              </a:ext>
            </a:extLst>
          </p:cNvPr>
          <p:cNvCxnSpPr>
            <a:stCxn id="18" idx="2"/>
            <a:endCxn id="23" idx="0"/>
          </p:cNvCxnSpPr>
          <p:nvPr/>
        </p:nvCxnSpPr>
        <p:spPr>
          <a:xfrm flipH="1">
            <a:off x="6881572" y="4674763"/>
            <a:ext cx="275190" cy="58935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C4BF408-804B-44A2-B82A-04B36D9DA307}"/>
              </a:ext>
            </a:extLst>
          </p:cNvPr>
          <p:cNvCxnSpPr>
            <a:stCxn id="19" idx="2"/>
            <a:endCxn id="55" idx="0"/>
          </p:cNvCxnSpPr>
          <p:nvPr/>
        </p:nvCxnSpPr>
        <p:spPr>
          <a:xfrm>
            <a:off x="4516170" y="4674763"/>
            <a:ext cx="614078" cy="58935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50E3E0D-EC89-4DB7-ADC1-C8A49F246EFB}"/>
              </a:ext>
            </a:extLst>
          </p:cNvPr>
          <p:cNvCxnSpPr>
            <a:cxnSpLocks/>
            <a:stCxn id="23" idx="4"/>
            <a:endCxn id="20" idx="0"/>
          </p:cNvCxnSpPr>
          <p:nvPr/>
        </p:nvCxnSpPr>
        <p:spPr>
          <a:xfrm flipH="1">
            <a:off x="5927945" y="5934077"/>
            <a:ext cx="953627" cy="29964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E38E2CD-1DFA-45EF-B585-A87A20F8012B}"/>
              </a:ext>
            </a:extLst>
          </p:cNvPr>
          <p:cNvCxnSpPr>
            <a:stCxn id="55" idx="4"/>
            <a:endCxn id="20" idx="0"/>
          </p:cNvCxnSpPr>
          <p:nvPr/>
        </p:nvCxnSpPr>
        <p:spPr>
          <a:xfrm>
            <a:off x="5130248" y="5934076"/>
            <a:ext cx="797697" cy="2996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B570CE4F-3331-48EA-B184-D73B76221DBB}"/>
              </a:ext>
            </a:extLst>
          </p:cNvPr>
          <p:cNvCxnSpPr>
            <a:stCxn id="18" idx="1"/>
            <a:endCxn id="19" idx="3"/>
          </p:cNvCxnSpPr>
          <p:nvPr/>
        </p:nvCxnSpPr>
        <p:spPr>
          <a:xfrm flipH="1">
            <a:off x="5520350" y="4385052"/>
            <a:ext cx="63223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54FAE41-7A36-46D9-A361-9578DC07BA15}"/>
              </a:ext>
            </a:extLst>
          </p:cNvPr>
          <p:cNvCxnSpPr>
            <a:stCxn id="18" idx="2"/>
            <a:endCxn id="55" idx="0"/>
          </p:cNvCxnSpPr>
          <p:nvPr/>
        </p:nvCxnSpPr>
        <p:spPr>
          <a:xfrm flipH="1">
            <a:off x="5130248" y="4674763"/>
            <a:ext cx="2026514" cy="5893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2822421-2FCA-493E-BB80-63C3B2469FF1}"/>
              </a:ext>
            </a:extLst>
          </p:cNvPr>
          <p:cNvCxnSpPr>
            <a:stCxn id="19" idx="2"/>
            <a:endCxn id="23" idx="0"/>
          </p:cNvCxnSpPr>
          <p:nvPr/>
        </p:nvCxnSpPr>
        <p:spPr>
          <a:xfrm>
            <a:off x="4516170" y="4674763"/>
            <a:ext cx="2365402" cy="5893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78FE11D6-7073-4DCB-BEE6-8A79E304E0D9}"/>
              </a:ext>
            </a:extLst>
          </p:cNvPr>
          <p:cNvSpPr txBox="1"/>
          <p:nvPr/>
        </p:nvSpPr>
        <p:spPr>
          <a:xfrm>
            <a:off x="271604" y="2076108"/>
            <a:ext cx="266770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misconfiguration is pushing majority to traffic to slower link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Link is congested, traffic is dropped, but network is </a:t>
            </a:r>
            <a:r>
              <a:rPr lang="en-US" b="1" dirty="0"/>
              <a:t>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Silent failure, harder to detect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Anomaly Detection to identify abnormal traffic</a:t>
            </a:r>
            <a:endParaRPr lang="en-CA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A26197C-2B43-46A3-84CD-706E3FCF3F47}"/>
              </a:ext>
            </a:extLst>
          </p:cNvPr>
          <p:cNvSpPr txBox="1"/>
          <p:nvPr/>
        </p:nvSpPr>
        <p:spPr>
          <a:xfrm>
            <a:off x="6996577" y="4843528"/>
            <a:ext cx="87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100 Gbps</a:t>
            </a:r>
            <a:endParaRPr lang="en-CA" sz="12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5B5D05E-0B63-4D48-AA07-7B2EAD32A71C}"/>
              </a:ext>
            </a:extLst>
          </p:cNvPr>
          <p:cNvSpPr txBox="1"/>
          <p:nvPr/>
        </p:nvSpPr>
        <p:spPr>
          <a:xfrm>
            <a:off x="5989170" y="4678053"/>
            <a:ext cx="87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10 Gbps</a:t>
            </a:r>
            <a:endParaRPr lang="en-CA" sz="1200" dirty="0"/>
          </a:p>
        </p:txBody>
      </p:sp>
      <p:sp>
        <p:nvSpPr>
          <p:cNvPr id="35" name="Arrow: Left 34">
            <a:extLst>
              <a:ext uri="{FF2B5EF4-FFF2-40B4-BE49-F238E27FC236}">
                <a16:creationId xmlns:a16="http://schemas.microsoft.com/office/drawing/2014/main" id="{DF712A93-101B-4248-9717-2FAD723C3D44}"/>
              </a:ext>
            </a:extLst>
          </p:cNvPr>
          <p:cNvSpPr/>
          <p:nvPr/>
        </p:nvSpPr>
        <p:spPr>
          <a:xfrm rot="16200000">
            <a:off x="7046783" y="4503855"/>
            <a:ext cx="857013" cy="58935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0" name="Arrow: Left 59">
            <a:extLst>
              <a:ext uri="{FF2B5EF4-FFF2-40B4-BE49-F238E27FC236}">
                <a16:creationId xmlns:a16="http://schemas.microsoft.com/office/drawing/2014/main" id="{73B56CCF-CEBC-4AC8-96AA-A14C16CA09A6}"/>
              </a:ext>
            </a:extLst>
          </p:cNvPr>
          <p:cNvSpPr/>
          <p:nvPr/>
        </p:nvSpPr>
        <p:spPr>
          <a:xfrm rot="20336852">
            <a:off x="6490053" y="4516488"/>
            <a:ext cx="669958" cy="22995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8" name="Arrow: Left 67">
            <a:extLst>
              <a:ext uri="{FF2B5EF4-FFF2-40B4-BE49-F238E27FC236}">
                <a16:creationId xmlns:a16="http://schemas.microsoft.com/office/drawing/2014/main" id="{3234397C-E618-46B8-803D-F8FD1F9D242B}"/>
              </a:ext>
            </a:extLst>
          </p:cNvPr>
          <p:cNvSpPr/>
          <p:nvPr/>
        </p:nvSpPr>
        <p:spPr>
          <a:xfrm rot="20274342">
            <a:off x="6096024" y="4292400"/>
            <a:ext cx="857013" cy="58935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9" name="Arrow: Left 68">
            <a:extLst>
              <a:ext uri="{FF2B5EF4-FFF2-40B4-BE49-F238E27FC236}">
                <a16:creationId xmlns:a16="http://schemas.microsoft.com/office/drawing/2014/main" id="{A3BDE818-6DEC-4EBC-A3CA-C70D935D5A16}"/>
              </a:ext>
            </a:extLst>
          </p:cNvPr>
          <p:cNvSpPr/>
          <p:nvPr/>
        </p:nvSpPr>
        <p:spPr>
          <a:xfrm rot="16037484">
            <a:off x="7366673" y="4665511"/>
            <a:ext cx="669958" cy="22995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Cylinder 2">
            <a:extLst>
              <a:ext uri="{FF2B5EF4-FFF2-40B4-BE49-F238E27FC236}">
                <a16:creationId xmlns:a16="http://schemas.microsoft.com/office/drawing/2014/main" id="{92A29046-BE89-4F01-B01F-D32ADC03BBA9}"/>
              </a:ext>
            </a:extLst>
          </p:cNvPr>
          <p:cNvSpPr/>
          <p:nvPr/>
        </p:nvSpPr>
        <p:spPr>
          <a:xfrm>
            <a:off x="8849571" y="1366787"/>
            <a:ext cx="459939" cy="661542"/>
          </a:xfrm>
          <a:prstGeom prst="ca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A4BCDCAD-D1FE-4ABD-BABE-46F802401960}"/>
              </a:ext>
            </a:extLst>
          </p:cNvPr>
          <p:cNvSpPr/>
          <p:nvPr/>
        </p:nvSpPr>
        <p:spPr>
          <a:xfrm rot="2711779">
            <a:off x="7516222" y="1774375"/>
            <a:ext cx="879952" cy="2350222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DC224F-8EFC-486A-B0BD-F1E1FDD69375}"/>
              </a:ext>
            </a:extLst>
          </p:cNvPr>
          <p:cNvSpPr txBox="1"/>
          <p:nvPr/>
        </p:nvSpPr>
        <p:spPr>
          <a:xfrm>
            <a:off x="7956198" y="894657"/>
            <a:ext cx="2393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Congestion Build up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04893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5" grpId="1" animBg="1"/>
      <p:bldP spid="60" grpId="0" animBg="1"/>
      <p:bldP spid="60" grpId="1" animBg="1"/>
      <p:bldP spid="68" grpId="0" animBg="1"/>
      <p:bldP spid="69" grpId="0" animBg="1"/>
      <p:bldP spid="3" grpId="0" animBg="1"/>
      <p:bldP spid="21" grpId="0" animBg="1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9D12C-E5D4-4A0B-9987-79308F493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Silent</a:t>
            </a:r>
            <a:r>
              <a:rPr lang="en-US" dirty="0"/>
              <a:t> Failure –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Explain and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Cause</a:t>
            </a:r>
            <a:endParaRPr lang="en-CA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79628B-F7A1-4B65-BA97-416CBD3DB0C4}"/>
              </a:ext>
            </a:extLst>
          </p:cNvPr>
          <p:cNvSpPr/>
          <p:nvPr/>
        </p:nvSpPr>
        <p:spPr>
          <a:xfrm>
            <a:off x="9967865" y="1955549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411B43-88C5-4E23-8A7F-3A3960A868D8}"/>
              </a:ext>
            </a:extLst>
          </p:cNvPr>
          <p:cNvSpPr/>
          <p:nvPr/>
        </p:nvSpPr>
        <p:spPr>
          <a:xfrm>
            <a:off x="9785286" y="1887648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D9E1B6-68FF-41AD-A806-3618EB708708}"/>
              </a:ext>
            </a:extLst>
          </p:cNvPr>
          <p:cNvSpPr/>
          <p:nvPr/>
        </p:nvSpPr>
        <p:spPr>
          <a:xfrm>
            <a:off x="9602707" y="1955549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8ECB01-7172-4099-AA6C-6FF0F6248256}"/>
              </a:ext>
            </a:extLst>
          </p:cNvPr>
          <p:cNvSpPr/>
          <p:nvPr/>
        </p:nvSpPr>
        <p:spPr>
          <a:xfrm>
            <a:off x="7521920" y="1955549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019A70-4450-4A1E-95C1-6CCAD9CD13A8}"/>
              </a:ext>
            </a:extLst>
          </p:cNvPr>
          <p:cNvSpPr/>
          <p:nvPr/>
        </p:nvSpPr>
        <p:spPr>
          <a:xfrm>
            <a:off x="7339341" y="1887648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E83AD2-C6C6-4841-AAFC-BC32A094B50C}"/>
              </a:ext>
            </a:extLst>
          </p:cNvPr>
          <p:cNvSpPr/>
          <p:nvPr/>
        </p:nvSpPr>
        <p:spPr>
          <a:xfrm>
            <a:off x="7156762" y="1955549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B86B87-7C8E-4567-A6D2-61F5FD5BD14E}"/>
              </a:ext>
            </a:extLst>
          </p:cNvPr>
          <p:cNvSpPr/>
          <p:nvPr/>
        </p:nvSpPr>
        <p:spPr>
          <a:xfrm>
            <a:off x="4389421" y="1955549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1EC178-A4B0-426D-BA7A-7FD9BCE11A7C}"/>
              </a:ext>
            </a:extLst>
          </p:cNvPr>
          <p:cNvSpPr/>
          <p:nvPr/>
        </p:nvSpPr>
        <p:spPr>
          <a:xfrm>
            <a:off x="4206842" y="1887648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E2BB98-807D-455A-8790-1A05BA15F83B}"/>
              </a:ext>
            </a:extLst>
          </p:cNvPr>
          <p:cNvSpPr/>
          <p:nvPr/>
        </p:nvSpPr>
        <p:spPr>
          <a:xfrm>
            <a:off x="4024263" y="1955549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A4710E-9340-4F7E-B743-A25494B0725D}"/>
              </a:ext>
            </a:extLst>
          </p:cNvPr>
          <p:cNvSpPr/>
          <p:nvPr/>
        </p:nvSpPr>
        <p:spPr>
          <a:xfrm>
            <a:off x="9729456" y="2390115"/>
            <a:ext cx="238409" cy="2172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39542E-DF7E-43E4-B3D3-6B35A5BC1BFE}"/>
              </a:ext>
            </a:extLst>
          </p:cNvPr>
          <p:cNvSpPr/>
          <p:nvPr/>
        </p:nvSpPr>
        <p:spPr>
          <a:xfrm>
            <a:off x="7283511" y="2393290"/>
            <a:ext cx="238409" cy="2172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27F8E4-D5F3-4F24-9F9B-28F8A9EA321D}"/>
              </a:ext>
            </a:extLst>
          </p:cNvPr>
          <p:cNvSpPr/>
          <p:nvPr/>
        </p:nvSpPr>
        <p:spPr>
          <a:xfrm>
            <a:off x="4151012" y="2390115"/>
            <a:ext cx="238409" cy="2172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94A53A-02BB-42A3-B928-CF502824A85D}"/>
              </a:ext>
            </a:extLst>
          </p:cNvPr>
          <p:cNvSpPr/>
          <p:nvPr/>
        </p:nvSpPr>
        <p:spPr>
          <a:xfrm>
            <a:off x="8095683" y="2995298"/>
            <a:ext cx="921568" cy="47078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Agg</a:t>
            </a:r>
            <a:endParaRPr lang="en-CA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7CEC96-BB07-4013-9E96-33571FE6751E}"/>
              </a:ext>
            </a:extLst>
          </p:cNvPr>
          <p:cNvSpPr/>
          <p:nvPr/>
        </p:nvSpPr>
        <p:spPr>
          <a:xfrm>
            <a:off x="3109484" y="2995298"/>
            <a:ext cx="921568" cy="47078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Agg</a:t>
            </a:r>
            <a:endParaRPr lang="en-CA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EC410A4-4086-47BA-9493-1A183F6846DA}"/>
              </a:ext>
            </a:extLst>
          </p:cNvPr>
          <p:cNvSpPr/>
          <p:nvPr/>
        </p:nvSpPr>
        <p:spPr>
          <a:xfrm>
            <a:off x="6152582" y="4095341"/>
            <a:ext cx="2008360" cy="57942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Core Router</a:t>
            </a:r>
            <a:endParaRPr lang="en-CA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913475-B39D-418C-9037-6DFA4B720446}"/>
              </a:ext>
            </a:extLst>
          </p:cNvPr>
          <p:cNvSpPr/>
          <p:nvPr/>
        </p:nvSpPr>
        <p:spPr>
          <a:xfrm>
            <a:off x="3511990" y="4095341"/>
            <a:ext cx="2008360" cy="57942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Core Router</a:t>
            </a:r>
            <a:endParaRPr lang="en-CA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13925E-3E89-409A-A67D-192ACB381138}"/>
              </a:ext>
            </a:extLst>
          </p:cNvPr>
          <p:cNvSpPr/>
          <p:nvPr/>
        </p:nvSpPr>
        <p:spPr>
          <a:xfrm>
            <a:off x="4923765" y="6233721"/>
            <a:ext cx="2008360" cy="57942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069BD72-9F83-4243-8568-5BEF750C481E}"/>
              </a:ext>
            </a:extLst>
          </p:cNvPr>
          <p:cNvSpPr/>
          <p:nvPr/>
        </p:nvSpPr>
        <p:spPr>
          <a:xfrm>
            <a:off x="6152582" y="5264120"/>
            <a:ext cx="1457979" cy="669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Edge</a:t>
            </a:r>
            <a:endParaRPr lang="en-CA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E7272A-5600-4693-8B33-7AC1B8A828EF}"/>
              </a:ext>
            </a:extLst>
          </p:cNvPr>
          <p:cNvSpPr txBox="1"/>
          <p:nvPr/>
        </p:nvSpPr>
        <p:spPr>
          <a:xfrm>
            <a:off x="10205232" y="1564482"/>
            <a:ext cx="1063593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Home Internet</a:t>
            </a:r>
            <a:endParaRPr lang="en-CA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6D9B15-0B9A-4430-AB3B-13B7CDD1B801}"/>
              </a:ext>
            </a:extLst>
          </p:cNvPr>
          <p:cNvSpPr txBox="1"/>
          <p:nvPr/>
        </p:nvSpPr>
        <p:spPr>
          <a:xfrm>
            <a:off x="8849571" y="2314090"/>
            <a:ext cx="75313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BRAS</a:t>
            </a:r>
            <a:endParaRPr lang="en-CA" dirty="0"/>
          </a:p>
        </p:txBody>
      </p:sp>
      <p:sp>
        <p:nvSpPr>
          <p:cNvPr id="29" name="Right Brace 28">
            <a:extLst>
              <a:ext uri="{FF2B5EF4-FFF2-40B4-BE49-F238E27FC236}">
                <a16:creationId xmlns:a16="http://schemas.microsoft.com/office/drawing/2014/main" id="{1E6F0F67-3989-4DFF-9D12-8E9E9868061D}"/>
              </a:ext>
            </a:extLst>
          </p:cNvPr>
          <p:cNvSpPr/>
          <p:nvPr/>
        </p:nvSpPr>
        <p:spPr>
          <a:xfrm rot="16200000">
            <a:off x="5743279" y="4827686"/>
            <a:ext cx="369332" cy="260249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833C067-F73E-4E4D-80DA-A9BAECB73310}"/>
              </a:ext>
            </a:extLst>
          </p:cNvPr>
          <p:cNvSpPr txBox="1"/>
          <p:nvPr/>
        </p:nvSpPr>
        <p:spPr>
          <a:xfrm>
            <a:off x="3656286" y="6114833"/>
            <a:ext cx="1012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Provider B</a:t>
            </a:r>
            <a:endParaRPr lang="en-CA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C7B20EF-A109-4B98-B494-26055209F7F3}"/>
              </a:ext>
            </a:extLst>
          </p:cNvPr>
          <p:cNvCxnSpPr>
            <a:stCxn id="4" idx="2"/>
            <a:endCxn id="13" idx="0"/>
          </p:cNvCxnSpPr>
          <p:nvPr/>
        </p:nvCxnSpPr>
        <p:spPr>
          <a:xfrm flipH="1">
            <a:off x="9848661" y="2091350"/>
            <a:ext cx="182579" cy="298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BC7604A-0DB1-42FD-9B61-035289CC0FF8}"/>
              </a:ext>
            </a:extLst>
          </p:cNvPr>
          <p:cNvCxnSpPr>
            <a:endCxn id="13" idx="0"/>
          </p:cNvCxnSpPr>
          <p:nvPr/>
        </p:nvCxnSpPr>
        <p:spPr>
          <a:xfrm>
            <a:off x="9840074" y="2020783"/>
            <a:ext cx="8587" cy="3693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786CCBB-8D75-43BD-BA4D-6D4FE502E4D2}"/>
              </a:ext>
            </a:extLst>
          </p:cNvPr>
          <p:cNvCxnSpPr>
            <a:stCxn id="6" idx="2"/>
            <a:endCxn id="13" idx="0"/>
          </p:cNvCxnSpPr>
          <p:nvPr/>
        </p:nvCxnSpPr>
        <p:spPr>
          <a:xfrm>
            <a:off x="9666082" y="2091350"/>
            <a:ext cx="182579" cy="298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0165907-647C-42D6-8B4A-B20D4B823254}"/>
              </a:ext>
            </a:extLst>
          </p:cNvPr>
          <p:cNvCxnSpPr/>
          <p:nvPr/>
        </p:nvCxnSpPr>
        <p:spPr>
          <a:xfrm flipH="1">
            <a:off x="7411769" y="2098896"/>
            <a:ext cx="182579" cy="298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0F08056-91D2-4A95-B85D-66CFBA1BC1D2}"/>
              </a:ext>
            </a:extLst>
          </p:cNvPr>
          <p:cNvCxnSpPr/>
          <p:nvPr/>
        </p:nvCxnSpPr>
        <p:spPr>
          <a:xfrm>
            <a:off x="7403182" y="2028329"/>
            <a:ext cx="8587" cy="3693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71364C2-372F-4150-B7A1-F288BC9CCCF5}"/>
              </a:ext>
            </a:extLst>
          </p:cNvPr>
          <p:cNvCxnSpPr/>
          <p:nvPr/>
        </p:nvCxnSpPr>
        <p:spPr>
          <a:xfrm>
            <a:off x="7229190" y="2098896"/>
            <a:ext cx="182579" cy="298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43026B9-CCB8-4FF2-85A9-5E584281D189}"/>
              </a:ext>
            </a:extLst>
          </p:cNvPr>
          <p:cNvCxnSpPr/>
          <p:nvPr/>
        </p:nvCxnSpPr>
        <p:spPr>
          <a:xfrm flipH="1">
            <a:off x="4260969" y="2091350"/>
            <a:ext cx="182579" cy="298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CF9A6B4-1367-4829-925D-86D0BEAFDFCC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4260969" y="2023449"/>
            <a:ext cx="9248" cy="3666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833F57A-EAEC-42EB-88C8-AD78ED108413}"/>
              </a:ext>
            </a:extLst>
          </p:cNvPr>
          <p:cNvCxnSpPr/>
          <p:nvPr/>
        </p:nvCxnSpPr>
        <p:spPr>
          <a:xfrm>
            <a:off x="4078390" y="2091350"/>
            <a:ext cx="182579" cy="298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56F54E7-99AB-4A7D-829B-6DE2D976A91A}"/>
              </a:ext>
            </a:extLst>
          </p:cNvPr>
          <p:cNvCxnSpPr>
            <a:stCxn id="13" idx="2"/>
            <a:endCxn id="16" idx="0"/>
          </p:cNvCxnSpPr>
          <p:nvPr/>
        </p:nvCxnSpPr>
        <p:spPr>
          <a:xfrm flipH="1">
            <a:off x="8556467" y="2607398"/>
            <a:ext cx="1292194" cy="3879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1287ABA-0F2F-4C68-AB5D-D2EA4692372F}"/>
              </a:ext>
            </a:extLst>
          </p:cNvPr>
          <p:cNvCxnSpPr>
            <a:stCxn id="14" idx="2"/>
            <a:endCxn id="16" idx="0"/>
          </p:cNvCxnSpPr>
          <p:nvPr/>
        </p:nvCxnSpPr>
        <p:spPr>
          <a:xfrm>
            <a:off x="7402716" y="2610573"/>
            <a:ext cx="1153751" cy="3847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8D1291E-0915-40EC-AB38-2CA009F839B7}"/>
              </a:ext>
            </a:extLst>
          </p:cNvPr>
          <p:cNvCxnSpPr>
            <a:stCxn id="15" idx="2"/>
            <a:endCxn id="17" idx="0"/>
          </p:cNvCxnSpPr>
          <p:nvPr/>
        </p:nvCxnSpPr>
        <p:spPr>
          <a:xfrm flipH="1">
            <a:off x="3570268" y="2607398"/>
            <a:ext cx="699949" cy="3879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C4082D5-A6B2-4553-8A3F-F0616F58BEC2}"/>
              </a:ext>
            </a:extLst>
          </p:cNvPr>
          <p:cNvCxnSpPr>
            <a:stCxn id="16" idx="2"/>
            <a:endCxn id="18" idx="0"/>
          </p:cNvCxnSpPr>
          <p:nvPr/>
        </p:nvCxnSpPr>
        <p:spPr>
          <a:xfrm flipH="1">
            <a:off x="7156762" y="3466079"/>
            <a:ext cx="1399705" cy="62926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5430102-1A9D-4B11-BD8A-31E39EA3186D}"/>
              </a:ext>
            </a:extLst>
          </p:cNvPr>
          <p:cNvCxnSpPr>
            <a:stCxn id="17" idx="2"/>
            <a:endCxn id="19" idx="0"/>
          </p:cNvCxnSpPr>
          <p:nvPr/>
        </p:nvCxnSpPr>
        <p:spPr>
          <a:xfrm>
            <a:off x="3570268" y="3466079"/>
            <a:ext cx="945902" cy="62926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A9C9CED7-559C-4A9B-BFB3-E7297D2D742F}"/>
              </a:ext>
            </a:extLst>
          </p:cNvPr>
          <p:cNvSpPr/>
          <p:nvPr/>
        </p:nvSpPr>
        <p:spPr>
          <a:xfrm>
            <a:off x="4401258" y="5264119"/>
            <a:ext cx="1457979" cy="669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Edge</a:t>
            </a:r>
            <a:endParaRPr lang="en-CA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9041535-EFFE-44E8-A467-AE3BA0E258BC}"/>
              </a:ext>
            </a:extLst>
          </p:cNvPr>
          <p:cNvCxnSpPr>
            <a:stCxn id="18" idx="2"/>
            <a:endCxn id="23" idx="0"/>
          </p:cNvCxnSpPr>
          <p:nvPr/>
        </p:nvCxnSpPr>
        <p:spPr>
          <a:xfrm flipH="1">
            <a:off x="6881572" y="4674763"/>
            <a:ext cx="275190" cy="58935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C4BF408-804B-44A2-B82A-04B36D9DA307}"/>
              </a:ext>
            </a:extLst>
          </p:cNvPr>
          <p:cNvCxnSpPr>
            <a:stCxn id="19" idx="2"/>
            <a:endCxn id="55" idx="0"/>
          </p:cNvCxnSpPr>
          <p:nvPr/>
        </p:nvCxnSpPr>
        <p:spPr>
          <a:xfrm>
            <a:off x="4516170" y="4674763"/>
            <a:ext cx="614078" cy="58935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50E3E0D-EC89-4DB7-ADC1-C8A49F246EFB}"/>
              </a:ext>
            </a:extLst>
          </p:cNvPr>
          <p:cNvCxnSpPr>
            <a:cxnSpLocks/>
            <a:stCxn id="23" idx="4"/>
            <a:endCxn id="20" idx="0"/>
          </p:cNvCxnSpPr>
          <p:nvPr/>
        </p:nvCxnSpPr>
        <p:spPr>
          <a:xfrm flipH="1">
            <a:off x="5927945" y="5934077"/>
            <a:ext cx="953627" cy="29964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E38E2CD-1DFA-45EF-B585-A87A20F8012B}"/>
              </a:ext>
            </a:extLst>
          </p:cNvPr>
          <p:cNvCxnSpPr>
            <a:stCxn id="55" idx="4"/>
            <a:endCxn id="20" idx="0"/>
          </p:cNvCxnSpPr>
          <p:nvPr/>
        </p:nvCxnSpPr>
        <p:spPr>
          <a:xfrm>
            <a:off x="5130248" y="5934076"/>
            <a:ext cx="797697" cy="2996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B570CE4F-3331-48EA-B184-D73B76221DBB}"/>
              </a:ext>
            </a:extLst>
          </p:cNvPr>
          <p:cNvCxnSpPr>
            <a:stCxn id="18" idx="1"/>
            <a:endCxn id="19" idx="3"/>
          </p:cNvCxnSpPr>
          <p:nvPr/>
        </p:nvCxnSpPr>
        <p:spPr>
          <a:xfrm flipH="1">
            <a:off x="5520350" y="4385052"/>
            <a:ext cx="63223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54FAE41-7A36-46D9-A361-9578DC07BA15}"/>
              </a:ext>
            </a:extLst>
          </p:cNvPr>
          <p:cNvCxnSpPr>
            <a:stCxn id="18" idx="2"/>
            <a:endCxn id="55" idx="0"/>
          </p:cNvCxnSpPr>
          <p:nvPr/>
        </p:nvCxnSpPr>
        <p:spPr>
          <a:xfrm flipH="1">
            <a:off x="5130248" y="4674763"/>
            <a:ext cx="2026514" cy="5893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2822421-2FCA-493E-BB80-63C3B2469FF1}"/>
              </a:ext>
            </a:extLst>
          </p:cNvPr>
          <p:cNvCxnSpPr>
            <a:stCxn id="19" idx="2"/>
            <a:endCxn id="23" idx="0"/>
          </p:cNvCxnSpPr>
          <p:nvPr/>
        </p:nvCxnSpPr>
        <p:spPr>
          <a:xfrm>
            <a:off x="4516170" y="4674763"/>
            <a:ext cx="2365402" cy="5893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A26197C-2B43-46A3-84CD-706E3FCF3F47}"/>
              </a:ext>
            </a:extLst>
          </p:cNvPr>
          <p:cNvSpPr txBox="1"/>
          <p:nvPr/>
        </p:nvSpPr>
        <p:spPr>
          <a:xfrm>
            <a:off x="6996577" y="4843528"/>
            <a:ext cx="87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100 Gbps</a:t>
            </a:r>
            <a:endParaRPr lang="en-CA" sz="12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5B5D05E-0B63-4D48-AA07-7B2EAD32A71C}"/>
              </a:ext>
            </a:extLst>
          </p:cNvPr>
          <p:cNvSpPr txBox="1"/>
          <p:nvPr/>
        </p:nvSpPr>
        <p:spPr>
          <a:xfrm>
            <a:off x="5989170" y="4678053"/>
            <a:ext cx="87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10 Gbps</a:t>
            </a:r>
            <a:endParaRPr lang="en-CA" sz="1200" dirty="0"/>
          </a:p>
        </p:txBody>
      </p:sp>
      <p:sp>
        <p:nvSpPr>
          <p:cNvPr id="68" name="Arrow: Left 67">
            <a:extLst>
              <a:ext uri="{FF2B5EF4-FFF2-40B4-BE49-F238E27FC236}">
                <a16:creationId xmlns:a16="http://schemas.microsoft.com/office/drawing/2014/main" id="{3234397C-E618-46B8-803D-F8FD1F9D242B}"/>
              </a:ext>
            </a:extLst>
          </p:cNvPr>
          <p:cNvSpPr/>
          <p:nvPr/>
        </p:nvSpPr>
        <p:spPr>
          <a:xfrm rot="20274342">
            <a:off x="6096024" y="4292400"/>
            <a:ext cx="857013" cy="58935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9" name="Arrow: Left 68">
            <a:extLst>
              <a:ext uri="{FF2B5EF4-FFF2-40B4-BE49-F238E27FC236}">
                <a16:creationId xmlns:a16="http://schemas.microsoft.com/office/drawing/2014/main" id="{A3BDE818-6DEC-4EBC-A3CA-C70D935D5A16}"/>
              </a:ext>
            </a:extLst>
          </p:cNvPr>
          <p:cNvSpPr/>
          <p:nvPr/>
        </p:nvSpPr>
        <p:spPr>
          <a:xfrm rot="16037484">
            <a:off x="7366673" y="4665511"/>
            <a:ext cx="669958" cy="22995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612B6B-2C5E-4C29-81AE-0488B0C8AF75}"/>
              </a:ext>
            </a:extLst>
          </p:cNvPr>
          <p:cNvSpPr txBox="1"/>
          <p:nvPr/>
        </p:nvSpPr>
        <p:spPr>
          <a:xfrm>
            <a:off x="8748283" y="3511346"/>
            <a:ext cx="2692661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Identify location of anomaly, device and link</a:t>
            </a:r>
            <a:endParaRPr lang="en-CA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7F2858D-FF07-48E2-904E-F5D474FEEFD5}"/>
              </a:ext>
            </a:extLst>
          </p:cNvPr>
          <p:cNvCxnSpPr>
            <a:stCxn id="3" idx="1"/>
          </p:cNvCxnSpPr>
          <p:nvPr/>
        </p:nvCxnSpPr>
        <p:spPr>
          <a:xfrm flipH="1">
            <a:off x="7168337" y="3834512"/>
            <a:ext cx="1579946" cy="945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2F770DA-A9D2-4011-9E23-FC894D1F377B}"/>
              </a:ext>
            </a:extLst>
          </p:cNvPr>
          <p:cNvSpPr txBox="1"/>
          <p:nvPr/>
        </p:nvSpPr>
        <p:spPr>
          <a:xfrm>
            <a:off x="8575728" y="4440449"/>
            <a:ext cx="303777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Identify command responsible</a:t>
            </a:r>
            <a:endParaRPr lang="en-CA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93A5AF1-0A04-4F8B-935D-48CB2D1C96E1}"/>
              </a:ext>
            </a:extLst>
          </p:cNvPr>
          <p:cNvCxnSpPr>
            <a:stCxn id="3" idx="2"/>
            <a:endCxn id="27" idx="0"/>
          </p:cNvCxnSpPr>
          <p:nvPr/>
        </p:nvCxnSpPr>
        <p:spPr>
          <a:xfrm flipH="1">
            <a:off x="10094613" y="4157677"/>
            <a:ext cx="1" cy="282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Picture 52" descr="A screenshot of a cell phone&#10;&#10;Description automatically generated">
            <a:extLst>
              <a:ext uri="{FF2B5EF4-FFF2-40B4-BE49-F238E27FC236}">
                <a16:creationId xmlns:a16="http://schemas.microsoft.com/office/drawing/2014/main" id="{2A98B935-B27B-4ABE-84E3-BDBF492EAC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6702" y="4969440"/>
            <a:ext cx="4403118" cy="1709313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B70F161E-5F80-4D31-8EBA-759E4041EC18}"/>
              </a:ext>
            </a:extLst>
          </p:cNvPr>
          <p:cNvSpPr txBox="1"/>
          <p:nvPr/>
        </p:nvSpPr>
        <p:spPr>
          <a:xfrm>
            <a:off x="8748283" y="2590174"/>
            <a:ext cx="269266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Detect Anomaly</a:t>
            </a:r>
            <a:endParaRPr lang="en-CA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11A8FFF-ADFC-4FC0-90AC-BB40C69743C8}"/>
              </a:ext>
            </a:extLst>
          </p:cNvPr>
          <p:cNvCxnSpPr>
            <a:stCxn id="60" idx="2"/>
            <a:endCxn id="3" idx="0"/>
          </p:cNvCxnSpPr>
          <p:nvPr/>
        </p:nvCxnSpPr>
        <p:spPr>
          <a:xfrm>
            <a:off x="10094614" y="2959506"/>
            <a:ext cx="0" cy="5518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7598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7" grpId="0" animBg="1"/>
      <p:bldP spid="6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9D12C-E5D4-4A0B-9987-79308F493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Failure</a:t>
            </a:r>
            <a:endParaRPr lang="en-CA" dirty="0"/>
          </a:p>
        </p:txBody>
      </p:sp>
      <p:pic>
        <p:nvPicPr>
          <p:cNvPr id="22" name="Content Placeholder 21" descr="Badge Cross">
            <a:extLst>
              <a:ext uri="{FF2B5EF4-FFF2-40B4-BE49-F238E27FC236}">
                <a16:creationId xmlns:a16="http://schemas.microsoft.com/office/drawing/2014/main" id="{F5E0988F-1226-4FA7-B84B-B3CD77AD82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98625" y="4700214"/>
            <a:ext cx="713144" cy="598149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579628B-F7A1-4B65-BA97-416CBD3DB0C4}"/>
              </a:ext>
            </a:extLst>
          </p:cNvPr>
          <p:cNvSpPr/>
          <p:nvPr/>
        </p:nvSpPr>
        <p:spPr>
          <a:xfrm>
            <a:off x="9967865" y="1955549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411B43-88C5-4E23-8A7F-3A3960A868D8}"/>
              </a:ext>
            </a:extLst>
          </p:cNvPr>
          <p:cNvSpPr/>
          <p:nvPr/>
        </p:nvSpPr>
        <p:spPr>
          <a:xfrm>
            <a:off x="9785286" y="1887648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D9E1B6-68FF-41AD-A806-3618EB708708}"/>
              </a:ext>
            </a:extLst>
          </p:cNvPr>
          <p:cNvSpPr/>
          <p:nvPr/>
        </p:nvSpPr>
        <p:spPr>
          <a:xfrm>
            <a:off x="9602707" y="1955549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8ECB01-7172-4099-AA6C-6FF0F6248256}"/>
              </a:ext>
            </a:extLst>
          </p:cNvPr>
          <p:cNvSpPr/>
          <p:nvPr/>
        </p:nvSpPr>
        <p:spPr>
          <a:xfrm>
            <a:off x="7521920" y="1955549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019A70-4450-4A1E-95C1-6CCAD9CD13A8}"/>
              </a:ext>
            </a:extLst>
          </p:cNvPr>
          <p:cNvSpPr/>
          <p:nvPr/>
        </p:nvSpPr>
        <p:spPr>
          <a:xfrm>
            <a:off x="7339341" y="1887648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E83AD2-C6C6-4841-AAFC-BC32A094B50C}"/>
              </a:ext>
            </a:extLst>
          </p:cNvPr>
          <p:cNvSpPr/>
          <p:nvPr/>
        </p:nvSpPr>
        <p:spPr>
          <a:xfrm>
            <a:off x="7156762" y="1955549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B86B87-7C8E-4567-A6D2-61F5FD5BD14E}"/>
              </a:ext>
            </a:extLst>
          </p:cNvPr>
          <p:cNvSpPr/>
          <p:nvPr/>
        </p:nvSpPr>
        <p:spPr>
          <a:xfrm>
            <a:off x="4389421" y="1955549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1EC178-A4B0-426D-BA7A-7FD9BCE11A7C}"/>
              </a:ext>
            </a:extLst>
          </p:cNvPr>
          <p:cNvSpPr/>
          <p:nvPr/>
        </p:nvSpPr>
        <p:spPr>
          <a:xfrm>
            <a:off x="4206842" y="1887648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E2BB98-807D-455A-8790-1A05BA15F83B}"/>
              </a:ext>
            </a:extLst>
          </p:cNvPr>
          <p:cNvSpPr/>
          <p:nvPr/>
        </p:nvSpPr>
        <p:spPr>
          <a:xfrm>
            <a:off x="4024263" y="1955549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A4710E-9340-4F7E-B743-A25494B0725D}"/>
              </a:ext>
            </a:extLst>
          </p:cNvPr>
          <p:cNvSpPr/>
          <p:nvPr/>
        </p:nvSpPr>
        <p:spPr>
          <a:xfrm>
            <a:off x="9729456" y="2390115"/>
            <a:ext cx="238409" cy="2172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39542E-DF7E-43E4-B3D3-6B35A5BC1BFE}"/>
              </a:ext>
            </a:extLst>
          </p:cNvPr>
          <p:cNvSpPr/>
          <p:nvPr/>
        </p:nvSpPr>
        <p:spPr>
          <a:xfrm>
            <a:off x="7283511" y="2393290"/>
            <a:ext cx="238409" cy="2172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27F8E4-D5F3-4F24-9F9B-28F8A9EA321D}"/>
              </a:ext>
            </a:extLst>
          </p:cNvPr>
          <p:cNvSpPr/>
          <p:nvPr/>
        </p:nvSpPr>
        <p:spPr>
          <a:xfrm>
            <a:off x="4151012" y="2390115"/>
            <a:ext cx="238409" cy="2172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94A53A-02BB-42A3-B928-CF502824A85D}"/>
              </a:ext>
            </a:extLst>
          </p:cNvPr>
          <p:cNvSpPr/>
          <p:nvPr/>
        </p:nvSpPr>
        <p:spPr>
          <a:xfrm>
            <a:off x="8095683" y="2995298"/>
            <a:ext cx="921568" cy="47078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7CEC96-BB07-4013-9E96-33571FE6751E}"/>
              </a:ext>
            </a:extLst>
          </p:cNvPr>
          <p:cNvSpPr/>
          <p:nvPr/>
        </p:nvSpPr>
        <p:spPr>
          <a:xfrm>
            <a:off x="3109484" y="2995298"/>
            <a:ext cx="921568" cy="47078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Agg</a:t>
            </a:r>
            <a:endParaRPr lang="en-C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EC410A4-4086-47BA-9493-1A183F6846DA}"/>
              </a:ext>
            </a:extLst>
          </p:cNvPr>
          <p:cNvSpPr/>
          <p:nvPr/>
        </p:nvSpPr>
        <p:spPr>
          <a:xfrm>
            <a:off x="6152582" y="4095341"/>
            <a:ext cx="2008360" cy="57942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Core Router</a:t>
            </a:r>
            <a:endParaRPr lang="en-CA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913475-B39D-418C-9037-6DFA4B720446}"/>
              </a:ext>
            </a:extLst>
          </p:cNvPr>
          <p:cNvSpPr/>
          <p:nvPr/>
        </p:nvSpPr>
        <p:spPr>
          <a:xfrm>
            <a:off x="3511990" y="4095341"/>
            <a:ext cx="2008360" cy="57942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Core Router</a:t>
            </a:r>
            <a:endParaRPr lang="en-CA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13925E-3E89-409A-A67D-192ACB381138}"/>
              </a:ext>
            </a:extLst>
          </p:cNvPr>
          <p:cNvSpPr/>
          <p:nvPr/>
        </p:nvSpPr>
        <p:spPr>
          <a:xfrm>
            <a:off x="4923765" y="6233721"/>
            <a:ext cx="2008360" cy="57942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069BD72-9F83-4243-8568-5BEF750C481E}"/>
              </a:ext>
            </a:extLst>
          </p:cNvPr>
          <p:cNvSpPr/>
          <p:nvPr/>
        </p:nvSpPr>
        <p:spPr>
          <a:xfrm>
            <a:off x="6152582" y="5264120"/>
            <a:ext cx="1457979" cy="669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Edge</a:t>
            </a:r>
            <a:endParaRPr lang="en-CA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E7272A-5600-4693-8B33-7AC1B8A828EF}"/>
              </a:ext>
            </a:extLst>
          </p:cNvPr>
          <p:cNvSpPr txBox="1"/>
          <p:nvPr/>
        </p:nvSpPr>
        <p:spPr>
          <a:xfrm>
            <a:off x="10205232" y="1564482"/>
            <a:ext cx="1063593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Home Internet</a:t>
            </a:r>
            <a:endParaRPr lang="en-CA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6D9B15-0B9A-4430-AB3B-13B7CDD1B801}"/>
              </a:ext>
            </a:extLst>
          </p:cNvPr>
          <p:cNvSpPr txBox="1"/>
          <p:nvPr/>
        </p:nvSpPr>
        <p:spPr>
          <a:xfrm>
            <a:off x="8849571" y="2314090"/>
            <a:ext cx="75313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BRAS</a:t>
            </a:r>
            <a:endParaRPr lang="en-CA" dirty="0"/>
          </a:p>
        </p:txBody>
      </p:sp>
      <p:sp>
        <p:nvSpPr>
          <p:cNvPr id="29" name="Right Brace 28">
            <a:extLst>
              <a:ext uri="{FF2B5EF4-FFF2-40B4-BE49-F238E27FC236}">
                <a16:creationId xmlns:a16="http://schemas.microsoft.com/office/drawing/2014/main" id="{1E6F0F67-3989-4DFF-9D12-8E9E9868061D}"/>
              </a:ext>
            </a:extLst>
          </p:cNvPr>
          <p:cNvSpPr/>
          <p:nvPr/>
        </p:nvSpPr>
        <p:spPr>
          <a:xfrm rot="16200000">
            <a:off x="5743279" y="4827686"/>
            <a:ext cx="369332" cy="260249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833C067-F73E-4E4D-80DA-A9BAECB73310}"/>
              </a:ext>
            </a:extLst>
          </p:cNvPr>
          <p:cNvSpPr txBox="1"/>
          <p:nvPr/>
        </p:nvSpPr>
        <p:spPr>
          <a:xfrm>
            <a:off x="3656286" y="6114833"/>
            <a:ext cx="1012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Provider B</a:t>
            </a:r>
            <a:endParaRPr lang="en-CA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C7B20EF-A109-4B98-B494-26055209F7F3}"/>
              </a:ext>
            </a:extLst>
          </p:cNvPr>
          <p:cNvCxnSpPr>
            <a:stCxn id="4" idx="2"/>
            <a:endCxn id="13" idx="0"/>
          </p:cNvCxnSpPr>
          <p:nvPr/>
        </p:nvCxnSpPr>
        <p:spPr>
          <a:xfrm flipH="1">
            <a:off x="9848661" y="2091350"/>
            <a:ext cx="182579" cy="298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BC7604A-0DB1-42FD-9B61-035289CC0FF8}"/>
              </a:ext>
            </a:extLst>
          </p:cNvPr>
          <p:cNvCxnSpPr>
            <a:endCxn id="13" idx="0"/>
          </p:cNvCxnSpPr>
          <p:nvPr/>
        </p:nvCxnSpPr>
        <p:spPr>
          <a:xfrm>
            <a:off x="9840074" y="2020783"/>
            <a:ext cx="8587" cy="3693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786CCBB-8D75-43BD-BA4D-6D4FE502E4D2}"/>
              </a:ext>
            </a:extLst>
          </p:cNvPr>
          <p:cNvCxnSpPr>
            <a:stCxn id="6" idx="2"/>
            <a:endCxn id="13" idx="0"/>
          </p:cNvCxnSpPr>
          <p:nvPr/>
        </p:nvCxnSpPr>
        <p:spPr>
          <a:xfrm>
            <a:off x="9666082" y="2091350"/>
            <a:ext cx="182579" cy="298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0165907-647C-42D6-8B4A-B20D4B823254}"/>
              </a:ext>
            </a:extLst>
          </p:cNvPr>
          <p:cNvCxnSpPr/>
          <p:nvPr/>
        </p:nvCxnSpPr>
        <p:spPr>
          <a:xfrm flipH="1">
            <a:off x="7411769" y="2098896"/>
            <a:ext cx="182579" cy="298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0F08056-91D2-4A95-B85D-66CFBA1BC1D2}"/>
              </a:ext>
            </a:extLst>
          </p:cNvPr>
          <p:cNvCxnSpPr/>
          <p:nvPr/>
        </p:nvCxnSpPr>
        <p:spPr>
          <a:xfrm>
            <a:off x="7403182" y="2028329"/>
            <a:ext cx="8587" cy="3693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71364C2-372F-4150-B7A1-F288BC9CCCF5}"/>
              </a:ext>
            </a:extLst>
          </p:cNvPr>
          <p:cNvCxnSpPr/>
          <p:nvPr/>
        </p:nvCxnSpPr>
        <p:spPr>
          <a:xfrm>
            <a:off x="7229190" y="2098896"/>
            <a:ext cx="182579" cy="298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43026B9-CCB8-4FF2-85A9-5E584281D189}"/>
              </a:ext>
            </a:extLst>
          </p:cNvPr>
          <p:cNvCxnSpPr/>
          <p:nvPr/>
        </p:nvCxnSpPr>
        <p:spPr>
          <a:xfrm flipH="1">
            <a:off x="4260969" y="2091350"/>
            <a:ext cx="182579" cy="298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CF9A6B4-1367-4829-925D-86D0BEAFDFCC}"/>
              </a:ext>
            </a:extLst>
          </p:cNvPr>
          <p:cNvCxnSpPr/>
          <p:nvPr/>
        </p:nvCxnSpPr>
        <p:spPr>
          <a:xfrm>
            <a:off x="4252382" y="2020783"/>
            <a:ext cx="8587" cy="3693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833F57A-EAEC-42EB-88C8-AD78ED108413}"/>
              </a:ext>
            </a:extLst>
          </p:cNvPr>
          <p:cNvCxnSpPr/>
          <p:nvPr/>
        </p:nvCxnSpPr>
        <p:spPr>
          <a:xfrm>
            <a:off x="4078390" y="2091350"/>
            <a:ext cx="182579" cy="298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56F54E7-99AB-4A7D-829B-6DE2D976A91A}"/>
              </a:ext>
            </a:extLst>
          </p:cNvPr>
          <p:cNvCxnSpPr>
            <a:stCxn id="13" idx="2"/>
            <a:endCxn id="16" idx="0"/>
          </p:cNvCxnSpPr>
          <p:nvPr/>
        </p:nvCxnSpPr>
        <p:spPr>
          <a:xfrm flipH="1">
            <a:off x="8556467" y="2607398"/>
            <a:ext cx="1292194" cy="3879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1287ABA-0F2F-4C68-AB5D-D2EA4692372F}"/>
              </a:ext>
            </a:extLst>
          </p:cNvPr>
          <p:cNvCxnSpPr>
            <a:stCxn id="14" idx="2"/>
            <a:endCxn id="16" idx="0"/>
          </p:cNvCxnSpPr>
          <p:nvPr/>
        </p:nvCxnSpPr>
        <p:spPr>
          <a:xfrm>
            <a:off x="7402716" y="2610573"/>
            <a:ext cx="1153751" cy="3847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8D1291E-0915-40EC-AB38-2CA009F839B7}"/>
              </a:ext>
            </a:extLst>
          </p:cNvPr>
          <p:cNvCxnSpPr>
            <a:stCxn id="15" idx="2"/>
            <a:endCxn id="17" idx="0"/>
          </p:cNvCxnSpPr>
          <p:nvPr/>
        </p:nvCxnSpPr>
        <p:spPr>
          <a:xfrm flipH="1">
            <a:off x="3570268" y="2607398"/>
            <a:ext cx="699949" cy="3879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C4082D5-A6B2-4553-8A3F-F0616F58BEC2}"/>
              </a:ext>
            </a:extLst>
          </p:cNvPr>
          <p:cNvCxnSpPr>
            <a:stCxn id="16" idx="2"/>
            <a:endCxn id="18" idx="0"/>
          </p:cNvCxnSpPr>
          <p:nvPr/>
        </p:nvCxnSpPr>
        <p:spPr>
          <a:xfrm flipH="1">
            <a:off x="7156762" y="3466079"/>
            <a:ext cx="1399705" cy="62926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5430102-1A9D-4B11-BD8A-31E39EA3186D}"/>
              </a:ext>
            </a:extLst>
          </p:cNvPr>
          <p:cNvCxnSpPr>
            <a:stCxn id="17" idx="2"/>
            <a:endCxn id="19" idx="0"/>
          </p:cNvCxnSpPr>
          <p:nvPr/>
        </p:nvCxnSpPr>
        <p:spPr>
          <a:xfrm>
            <a:off x="3570268" y="3466079"/>
            <a:ext cx="945902" cy="62926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A9C9CED7-559C-4A9B-BFB3-E7297D2D742F}"/>
              </a:ext>
            </a:extLst>
          </p:cNvPr>
          <p:cNvSpPr/>
          <p:nvPr/>
        </p:nvSpPr>
        <p:spPr>
          <a:xfrm>
            <a:off x="4401258" y="5264119"/>
            <a:ext cx="1457979" cy="669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Edge</a:t>
            </a:r>
            <a:endParaRPr lang="en-CA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9041535-EFFE-44E8-A467-AE3BA0E258BC}"/>
              </a:ext>
            </a:extLst>
          </p:cNvPr>
          <p:cNvCxnSpPr>
            <a:stCxn id="18" idx="2"/>
            <a:endCxn id="23" idx="0"/>
          </p:cNvCxnSpPr>
          <p:nvPr/>
        </p:nvCxnSpPr>
        <p:spPr>
          <a:xfrm flipH="1">
            <a:off x="6881572" y="4674763"/>
            <a:ext cx="275190" cy="58935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C4BF408-804B-44A2-B82A-04B36D9DA307}"/>
              </a:ext>
            </a:extLst>
          </p:cNvPr>
          <p:cNvCxnSpPr>
            <a:stCxn id="19" idx="2"/>
            <a:endCxn id="55" idx="0"/>
          </p:cNvCxnSpPr>
          <p:nvPr/>
        </p:nvCxnSpPr>
        <p:spPr>
          <a:xfrm>
            <a:off x="4516170" y="4674763"/>
            <a:ext cx="614078" cy="58935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50E3E0D-EC89-4DB7-ADC1-C8A49F246EFB}"/>
              </a:ext>
            </a:extLst>
          </p:cNvPr>
          <p:cNvCxnSpPr>
            <a:cxnSpLocks/>
            <a:stCxn id="23" idx="4"/>
            <a:endCxn id="20" idx="0"/>
          </p:cNvCxnSpPr>
          <p:nvPr/>
        </p:nvCxnSpPr>
        <p:spPr>
          <a:xfrm flipH="1">
            <a:off x="5927945" y="5934077"/>
            <a:ext cx="953627" cy="29964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E38E2CD-1DFA-45EF-B585-A87A20F8012B}"/>
              </a:ext>
            </a:extLst>
          </p:cNvPr>
          <p:cNvCxnSpPr>
            <a:stCxn id="55" idx="4"/>
            <a:endCxn id="20" idx="0"/>
          </p:cNvCxnSpPr>
          <p:nvPr/>
        </p:nvCxnSpPr>
        <p:spPr>
          <a:xfrm>
            <a:off x="5130248" y="5934076"/>
            <a:ext cx="797697" cy="2996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B570CE4F-3331-48EA-B184-D73B76221DBB}"/>
              </a:ext>
            </a:extLst>
          </p:cNvPr>
          <p:cNvCxnSpPr>
            <a:stCxn id="18" idx="1"/>
            <a:endCxn id="19" idx="3"/>
          </p:cNvCxnSpPr>
          <p:nvPr/>
        </p:nvCxnSpPr>
        <p:spPr>
          <a:xfrm flipH="1">
            <a:off x="5520350" y="4385052"/>
            <a:ext cx="63223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54FAE41-7A36-46D9-A361-9578DC07BA15}"/>
              </a:ext>
            </a:extLst>
          </p:cNvPr>
          <p:cNvCxnSpPr>
            <a:stCxn id="18" idx="2"/>
            <a:endCxn id="55" idx="0"/>
          </p:cNvCxnSpPr>
          <p:nvPr/>
        </p:nvCxnSpPr>
        <p:spPr>
          <a:xfrm flipH="1">
            <a:off x="5130248" y="4674763"/>
            <a:ext cx="2026514" cy="5893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2822421-2FCA-493E-BB80-63C3B2469FF1}"/>
              </a:ext>
            </a:extLst>
          </p:cNvPr>
          <p:cNvCxnSpPr>
            <a:stCxn id="19" idx="2"/>
            <a:endCxn id="23" idx="0"/>
          </p:cNvCxnSpPr>
          <p:nvPr/>
        </p:nvCxnSpPr>
        <p:spPr>
          <a:xfrm>
            <a:off x="4516170" y="4674763"/>
            <a:ext cx="2365402" cy="5893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78FE11D6-7073-4DCB-BEE6-8A79E304E0D9}"/>
              </a:ext>
            </a:extLst>
          </p:cNvPr>
          <p:cNvSpPr txBox="1"/>
          <p:nvPr/>
        </p:nvSpPr>
        <p:spPr>
          <a:xfrm>
            <a:off x="271604" y="2076108"/>
            <a:ext cx="26677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link is down, e.g. cable cut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Network status updates will show a down link/interface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Easy problem, to detect</a:t>
            </a:r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E11B2B-032D-4DA9-8DC9-160A296E4428}"/>
              </a:ext>
            </a:extLst>
          </p:cNvPr>
          <p:cNvSpPr txBox="1"/>
          <p:nvPr/>
        </p:nvSpPr>
        <p:spPr>
          <a:xfrm>
            <a:off x="162962" y="4385052"/>
            <a:ext cx="3150236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Even for non-silent failures, </a:t>
            </a:r>
            <a:r>
              <a:rPr lang="en-US" b="1" u="sng" dirty="0"/>
              <a:t>time-to-detect</a:t>
            </a:r>
            <a:r>
              <a:rPr lang="en-US" dirty="0"/>
              <a:t> is very important, </a:t>
            </a:r>
            <a:r>
              <a:rPr lang="en-US" dirty="0">
                <a:solidFill>
                  <a:schemeClr val="accent6"/>
                </a:solidFill>
              </a:rPr>
              <a:t>5 minutes </a:t>
            </a:r>
            <a:r>
              <a:rPr lang="en-US" dirty="0"/>
              <a:t>vs </a:t>
            </a:r>
            <a:r>
              <a:rPr lang="en-US" dirty="0">
                <a:solidFill>
                  <a:srgbClr val="FF0000"/>
                </a:solidFill>
              </a:rPr>
              <a:t>30 minutes</a:t>
            </a:r>
          </a:p>
          <a:p>
            <a:r>
              <a:rPr lang="en-US" dirty="0"/>
              <a:t>Detect before customers complain</a:t>
            </a:r>
            <a:endParaRPr lang="en-CA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BDA0C84-2555-4B96-B016-3D38BF942477}"/>
              </a:ext>
            </a:extLst>
          </p:cNvPr>
          <p:cNvSpPr/>
          <p:nvPr/>
        </p:nvSpPr>
        <p:spPr>
          <a:xfrm>
            <a:off x="8068238" y="2995298"/>
            <a:ext cx="921568" cy="47078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Agg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08188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9D12C-E5D4-4A0B-9987-79308F493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BGP Hijack</a:t>
            </a:r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79628B-F7A1-4B65-BA97-416CBD3DB0C4}"/>
              </a:ext>
            </a:extLst>
          </p:cNvPr>
          <p:cNvSpPr/>
          <p:nvPr/>
        </p:nvSpPr>
        <p:spPr>
          <a:xfrm>
            <a:off x="9967865" y="1955549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411B43-88C5-4E23-8A7F-3A3960A868D8}"/>
              </a:ext>
            </a:extLst>
          </p:cNvPr>
          <p:cNvSpPr/>
          <p:nvPr/>
        </p:nvSpPr>
        <p:spPr>
          <a:xfrm>
            <a:off x="9785286" y="1887648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D9E1B6-68FF-41AD-A806-3618EB708708}"/>
              </a:ext>
            </a:extLst>
          </p:cNvPr>
          <p:cNvSpPr/>
          <p:nvPr/>
        </p:nvSpPr>
        <p:spPr>
          <a:xfrm>
            <a:off x="9602707" y="1955549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8ECB01-7172-4099-AA6C-6FF0F6248256}"/>
              </a:ext>
            </a:extLst>
          </p:cNvPr>
          <p:cNvSpPr/>
          <p:nvPr/>
        </p:nvSpPr>
        <p:spPr>
          <a:xfrm>
            <a:off x="7521920" y="1955549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019A70-4450-4A1E-95C1-6CCAD9CD13A8}"/>
              </a:ext>
            </a:extLst>
          </p:cNvPr>
          <p:cNvSpPr/>
          <p:nvPr/>
        </p:nvSpPr>
        <p:spPr>
          <a:xfrm>
            <a:off x="7339341" y="1887648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E83AD2-C6C6-4841-AAFC-BC32A094B50C}"/>
              </a:ext>
            </a:extLst>
          </p:cNvPr>
          <p:cNvSpPr/>
          <p:nvPr/>
        </p:nvSpPr>
        <p:spPr>
          <a:xfrm>
            <a:off x="7156762" y="1955549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B86B87-7C8E-4567-A6D2-61F5FD5BD14E}"/>
              </a:ext>
            </a:extLst>
          </p:cNvPr>
          <p:cNvSpPr/>
          <p:nvPr/>
        </p:nvSpPr>
        <p:spPr>
          <a:xfrm>
            <a:off x="4389421" y="1955549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1EC178-A4B0-426D-BA7A-7FD9BCE11A7C}"/>
              </a:ext>
            </a:extLst>
          </p:cNvPr>
          <p:cNvSpPr/>
          <p:nvPr/>
        </p:nvSpPr>
        <p:spPr>
          <a:xfrm>
            <a:off x="4206842" y="1887648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E2BB98-807D-455A-8790-1A05BA15F83B}"/>
              </a:ext>
            </a:extLst>
          </p:cNvPr>
          <p:cNvSpPr/>
          <p:nvPr/>
        </p:nvSpPr>
        <p:spPr>
          <a:xfrm>
            <a:off x="4024263" y="1955549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A4710E-9340-4F7E-B743-A25494B0725D}"/>
              </a:ext>
            </a:extLst>
          </p:cNvPr>
          <p:cNvSpPr/>
          <p:nvPr/>
        </p:nvSpPr>
        <p:spPr>
          <a:xfrm>
            <a:off x="9729456" y="2390115"/>
            <a:ext cx="238409" cy="2172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39542E-DF7E-43E4-B3D3-6B35A5BC1BFE}"/>
              </a:ext>
            </a:extLst>
          </p:cNvPr>
          <p:cNvSpPr/>
          <p:nvPr/>
        </p:nvSpPr>
        <p:spPr>
          <a:xfrm>
            <a:off x="7283511" y="2393290"/>
            <a:ext cx="238409" cy="2172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27F8E4-D5F3-4F24-9F9B-28F8A9EA321D}"/>
              </a:ext>
            </a:extLst>
          </p:cNvPr>
          <p:cNvSpPr/>
          <p:nvPr/>
        </p:nvSpPr>
        <p:spPr>
          <a:xfrm>
            <a:off x="4151012" y="2390115"/>
            <a:ext cx="238409" cy="2172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94A53A-02BB-42A3-B928-CF502824A85D}"/>
              </a:ext>
            </a:extLst>
          </p:cNvPr>
          <p:cNvSpPr/>
          <p:nvPr/>
        </p:nvSpPr>
        <p:spPr>
          <a:xfrm>
            <a:off x="8095683" y="2995298"/>
            <a:ext cx="921568" cy="47078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Agg</a:t>
            </a:r>
            <a:endParaRPr lang="en-CA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7CEC96-BB07-4013-9E96-33571FE6751E}"/>
              </a:ext>
            </a:extLst>
          </p:cNvPr>
          <p:cNvSpPr/>
          <p:nvPr/>
        </p:nvSpPr>
        <p:spPr>
          <a:xfrm>
            <a:off x="3109484" y="2995298"/>
            <a:ext cx="921568" cy="47078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Agg</a:t>
            </a:r>
            <a:endParaRPr lang="en-CA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EC410A4-4086-47BA-9493-1A183F6846DA}"/>
              </a:ext>
            </a:extLst>
          </p:cNvPr>
          <p:cNvSpPr/>
          <p:nvPr/>
        </p:nvSpPr>
        <p:spPr>
          <a:xfrm>
            <a:off x="6152582" y="4095341"/>
            <a:ext cx="2008360" cy="57942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Core Router</a:t>
            </a:r>
            <a:endParaRPr lang="en-CA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913475-B39D-418C-9037-6DFA4B720446}"/>
              </a:ext>
            </a:extLst>
          </p:cNvPr>
          <p:cNvSpPr/>
          <p:nvPr/>
        </p:nvSpPr>
        <p:spPr>
          <a:xfrm>
            <a:off x="3511990" y="4095341"/>
            <a:ext cx="2008360" cy="57942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Core Router</a:t>
            </a:r>
            <a:endParaRPr lang="en-CA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13925E-3E89-409A-A67D-192ACB381138}"/>
              </a:ext>
            </a:extLst>
          </p:cNvPr>
          <p:cNvSpPr/>
          <p:nvPr/>
        </p:nvSpPr>
        <p:spPr>
          <a:xfrm>
            <a:off x="4923765" y="6233721"/>
            <a:ext cx="2008360" cy="57942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069BD72-9F83-4243-8568-5BEF750C481E}"/>
              </a:ext>
            </a:extLst>
          </p:cNvPr>
          <p:cNvSpPr/>
          <p:nvPr/>
        </p:nvSpPr>
        <p:spPr>
          <a:xfrm>
            <a:off x="6152582" y="5264120"/>
            <a:ext cx="1457979" cy="669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Edge</a:t>
            </a:r>
            <a:endParaRPr lang="en-CA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E7272A-5600-4693-8B33-7AC1B8A828EF}"/>
              </a:ext>
            </a:extLst>
          </p:cNvPr>
          <p:cNvSpPr txBox="1"/>
          <p:nvPr/>
        </p:nvSpPr>
        <p:spPr>
          <a:xfrm>
            <a:off x="10205232" y="1564482"/>
            <a:ext cx="1063593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Home Internet</a:t>
            </a:r>
            <a:endParaRPr lang="en-CA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6D9B15-0B9A-4430-AB3B-13B7CDD1B801}"/>
              </a:ext>
            </a:extLst>
          </p:cNvPr>
          <p:cNvSpPr txBox="1"/>
          <p:nvPr/>
        </p:nvSpPr>
        <p:spPr>
          <a:xfrm>
            <a:off x="8849571" y="2314090"/>
            <a:ext cx="75313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BRAS</a:t>
            </a:r>
            <a:endParaRPr lang="en-CA" dirty="0"/>
          </a:p>
        </p:txBody>
      </p:sp>
      <p:sp>
        <p:nvSpPr>
          <p:cNvPr id="29" name="Right Brace 28">
            <a:extLst>
              <a:ext uri="{FF2B5EF4-FFF2-40B4-BE49-F238E27FC236}">
                <a16:creationId xmlns:a16="http://schemas.microsoft.com/office/drawing/2014/main" id="{1E6F0F67-3989-4DFF-9D12-8E9E9868061D}"/>
              </a:ext>
            </a:extLst>
          </p:cNvPr>
          <p:cNvSpPr/>
          <p:nvPr/>
        </p:nvSpPr>
        <p:spPr>
          <a:xfrm rot="16200000">
            <a:off x="5743279" y="4827686"/>
            <a:ext cx="369332" cy="260249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833C067-F73E-4E4D-80DA-A9BAECB73310}"/>
              </a:ext>
            </a:extLst>
          </p:cNvPr>
          <p:cNvSpPr txBox="1"/>
          <p:nvPr/>
        </p:nvSpPr>
        <p:spPr>
          <a:xfrm>
            <a:off x="3656286" y="6114833"/>
            <a:ext cx="1012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Provider B</a:t>
            </a:r>
            <a:endParaRPr lang="en-CA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C7B20EF-A109-4B98-B494-26055209F7F3}"/>
              </a:ext>
            </a:extLst>
          </p:cNvPr>
          <p:cNvCxnSpPr>
            <a:stCxn id="4" idx="2"/>
            <a:endCxn id="13" idx="0"/>
          </p:cNvCxnSpPr>
          <p:nvPr/>
        </p:nvCxnSpPr>
        <p:spPr>
          <a:xfrm flipH="1">
            <a:off x="9848661" y="2091350"/>
            <a:ext cx="182579" cy="298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BC7604A-0DB1-42FD-9B61-035289CC0FF8}"/>
              </a:ext>
            </a:extLst>
          </p:cNvPr>
          <p:cNvCxnSpPr>
            <a:endCxn id="13" idx="0"/>
          </p:cNvCxnSpPr>
          <p:nvPr/>
        </p:nvCxnSpPr>
        <p:spPr>
          <a:xfrm>
            <a:off x="9840074" y="2020783"/>
            <a:ext cx="8587" cy="3693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786CCBB-8D75-43BD-BA4D-6D4FE502E4D2}"/>
              </a:ext>
            </a:extLst>
          </p:cNvPr>
          <p:cNvCxnSpPr>
            <a:stCxn id="6" idx="2"/>
            <a:endCxn id="13" idx="0"/>
          </p:cNvCxnSpPr>
          <p:nvPr/>
        </p:nvCxnSpPr>
        <p:spPr>
          <a:xfrm>
            <a:off x="9666082" y="2091350"/>
            <a:ext cx="182579" cy="298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0165907-647C-42D6-8B4A-B20D4B823254}"/>
              </a:ext>
            </a:extLst>
          </p:cNvPr>
          <p:cNvCxnSpPr/>
          <p:nvPr/>
        </p:nvCxnSpPr>
        <p:spPr>
          <a:xfrm flipH="1">
            <a:off x="7411769" y="2098896"/>
            <a:ext cx="182579" cy="298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0F08056-91D2-4A95-B85D-66CFBA1BC1D2}"/>
              </a:ext>
            </a:extLst>
          </p:cNvPr>
          <p:cNvCxnSpPr/>
          <p:nvPr/>
        </p:nvCxnSpPr>
        <p:spPr>
          <a:xfrm>
            <a:off x="7403182" y="2028329"/>
            <a:ext cx="8587" cy="3693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71364C2-372F-4150-B7A1-F288BC9CCCF5}"/>
              </a:ext>
            </a:extLst>
          </p:cNvPr>
          <p:cNvCxnSpPr/>
          <p:nvPr/>
        </p:nvCxnSpPr>
        <p:spPr>
          <a:xfrm>
            <a:off x="7229190" y="2098896"/>
            <a:ext cx="182579" cy="298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43026B9-CCB8-4FF2-85A9-5E584281D189}"/>
              </a:ext>
            </a:extLst>
          </p:cNvPr>
          <p:cNvCxnSpPr/>
          <p:nvPr/>
        </p:nvCxnSpPr>
        <p:spPr>
          <a:xfrm flipH="1">
            <a:off x="4260969" y="2091350"/>
            <a:ext cx="182579" cy="298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CF9A6B4-1367-4829-925D-86D0BEAFDFCC}"/>
              </a:ext>
            </a:extLst>
          </p:cNvPr>
          <p:cNvCxnSpPr/>
          <p:nvPr/>
        </p:nvCxnSpPr>
        <p:spPr>
          <a:xfrm>
            <a:off x="4252382" y="2020783"/>
            <a:ext cx="8587" cy="3693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833F57A-EAEC-42EB-88C8-AD78ED108413}"/>
              </a:ext>
            </a:extLst>
          </p:cNvPr>
          <p:cNvCxnSpPr/>
          <p:nvPr/>
        </p:nvCxnSpPr>
        <p:spPr>
          <a:xfrm>
            <a:off x="4078390" y="2091350"/>
            <a:ext cx="182579" cy="298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56F54E7-99AB-4A7D-829B-6DE2D976A91A}"/>
              </a:ext>
            </a:extLst>
          </p:cNvPr>
          <p:cNvCxnSpPr>
            <a:stCxn id="13" idx="2"/>
            <a:endCxn id="16" idx="0"/>
          </p:cNvCxnSpPr>
          <p:nvPr/>
        </p:nvCxnSpPr>
        <p:spPr>
          <a:xfrm flipH="1">
            <a:off x="8556467" y="2607398"/>
            <a:ext cx="1292194" cy="3879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1287ABA-0F2F-4C68-AB5D-D2EA4692372F}"/>
              </a:ext>
            </a:extLst>
          </p:cNvPr>
          <p:cNvCxnSpPr>
            <a:stCxn id="14" idx="2"/>
            <a:endCxn id="16" idx="0"/>
          </p:cNvCxnSpPr>
          <p:nvPr/>
        </p:nvCxnSpPr>
        <p:spPr>
          <a:xfrm>
            <a:off x="7402716" y="2610573"/>
            <a:ext cx="1153751" cy="3847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8D1291E-0915-40EC-AB38-2CA009F839B7}"/>
              </a:ext>
            </a:extLst>
          </p:cNvPr>
          <p:cNvCxnSpPr>
            <a:stCxn id="15" idx="2"/>
            <a:endCxn id="17" idx="0"/>
          </p:cNvCxnSpPr>
          <p:nvPr/>
        </p:nvCxnSpPr>
        <p:spPr>
          <a:xfrm flipH="1">
            <a:off x="3570268" y="2607398"/>
            <a:ext cx="699949" cy="3879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C4082D5-A6B2-4553-8A3F-F0616F58BEC2}"/>
              </a:ext>
            </a:extLst>
          </p:cNvPr>
          <p:cNvCxnSpPr>
            <a:stCxn id="16" idx="2"/>
            <a:endCxn id="18" idx="0"/>
          </p:cNvCxnSpPr>
          <p:nvPr/>
        </p:nvCxnSpPr>
        <p:spPr>
          <a:xfrm flipH="1">
            <a:off x="7156762" y="3466079"/>
            <a:ext cx="1399705" cy="62926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5430102-1A9D-4B11-BD8A-31E39EA3186D}"/>
              </a:ext>
            </a:extLst>
          </p:cNvPr>
          <p:cNvCxnSpPr>
            <a:stCxn id="17" idx="2"/>
            <a:endCxn id="19" idx="0"/>
          </p:cNvCxnSpPr>
          <p:nvPr/>
        </p:nvCxnSpPr>
        <p:spPr>
          <a:xfrm>
            <a:off x="3570268" y="3466079"/>
            <a:ext cx="945902" cy="62926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A9C9CED7-559C-4A9B-BFB3-E7297D2D742F}"/>
              </a:ext>
            </a:extLst>
          </p:cNvPr>
          <p:cNvSpPr/>
          <p:nvPr/>
        </p:nvSpPr>
        <p:spPr>
          <a:xfrm>
            <a:off x="4401258" y="5264119"/>
            <a:ext cx="1457979" cy="669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Edge</a:t>
            </a:r>
            <a:endParaRPr lang="en-CA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9041535-EFFE-44E8-A467-AE3BA0E258BC}"/>
              </a:ext>
            </a:extLst>
          </p:cNvPr>
          <p:cNvCxnSpPr>
            <a:stCxn id="18" idx="2"/>
            <a:endCxn id="23" idx="0"/>
          </p:cNvCxnSpPr>
          <p:nvPr/>
        </p:nvCxnSpPr>
        <p:spPr>
          <a:xfrm flipH="1">
            <a:off x="6881572" y="4674763"/>
            <a:ext cx="275190" cy="589357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C4BF408-804B-44A2-B82A-04B36D9DA307}"/>
              </a:ext>
            </a:extLst>
          </p:cNvPr>
          <p:cNvCxnSpPr>
            <a:stCxn id="19" idx="2"/>
            <a:endCxn id="55" idx="0"/>
          </p:cNvCxnSpPr>
          <p:nvPr/>
        </p:nvCxnSpPr>
        <p:spPr>
          <a:xfrm>
            <a:off x="4516170" y="4674763"/>
            <a:ext cx="614078" cy="58935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50E3E0D-EC89-4DB7-ADC1-C8A49F246EFB}"/>
              </a:ext>
            </a:extLst>
          </p:cNvPr>
          <p:cNvCxnSpPr>
            <a:cxnSpLocks/>
            <a:stCxn id="23" idx="4"/>
            <a:endCxn id="20" idx="0"/>
          </p:cNvCxnSpPr>
          <p:nvPr/>
        </p:nvCxnSpPr>
        <p:spPr>
          <a:xfrm flipH="1">
            <a:off x="5927945" y="5934077"/>
            <a:ext cx="953627" cy="29964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E38E2CD-1DFA-45EF-B585-A87A20F8012B}"/>
              </a:ext>
            </a:extLst>
          </p:cNvPr>
          <p:cNvCxnSpPr>
            <a:stCxn id="55" idx="4"/>
            <a:endCxn id="20" idx="0"/>
          </p:cNvCxnSpPr>
          <p:nvPr/>
        </p:nvCxnSpPr>
        <p:spPr>
          <a:xfrm>
            <a:off x="5130248" y="5934076"/>
            <a:ext cx="797697" cy="2996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B570CE4F-3331-48EA-B184-D73B76221DBB}"/>
              </a:ext>
            </a:extLst>
          </p:cNvPr>
          <p:cNvCxnSpPr>
            <a:stCxn id="18" idx="1"/>
            <a:endCxn id="19" idx="3"/>
          </p:cNvCxnSpPr>
          <p:nvPr/>
        </p:nvCxnSpPr>
        <p:spPr>
          <a:xfrm flipH="1">
            <a:off x="5520350" y="4385052"/>
            <a:ext cx="63223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54FAE41-7A36-46D9-A361-9578DC07BA15}"/>
              </a:ext>
            </a:extLst>
          </p:cNvPr>
          <p:cNvCxnSpPr>
            <a:stCxn id="18" idx="2"/>
            <a:endCxn id="55" idx="0"/>
          </p:cNvCxnSpPr>
          <p:nvPr/>
        </p:nvCxnSpPr>
        <p:spPr>
          <a:xfrm flipH="1">
            <a:off x="5130248" y="4674763"/>
            <a:ext cx="2026514" cy="5893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2822421-2FCA-493E-BB80-63C3B2469FF1}"/>
              </a:ext>
            </a:extLst>
          </p:cNvPr>
          <p:cNvCxnSpPr>
            <a:stCxn id="19" idx="2"/>
            <a:endCxn id="23" idx="0"/>
          </p:cNvCxnSpPr>
          <p:nvPr/>
        </p:nvCxnSpPr>
        <p:spPr>
          <a:xfrm>
            <a:off x="4516170" y="4674763"/>
            <a:ext cx="2365402" cy="5893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78FE11D6-7073-4DCB-BEE6-8A79E304E0D9}"/>
              </a:ext>
            </a:extLst>
          </p:cNvPr>
          <p:cNvSpPr txBox="1"/>
          <p:nvPr/>
        </p:nvSpPr>
        <p:spPr>
          <a:xfrm>
            <a:off x="271604" y="2076108"/>
            <a:ext cx="266770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Misconfigured, or malicious, changes in internet routing tables.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Visible through traffic changes, BGP route updates and Syslog BGP commands.</a:t>
            </a:r>
            <a:endParaRPr lang="en-CA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F6015CAE-5330-4718-B548-677ADF6E06F5}"/>
              </a:ext>
            </a:extLst>
          </p:cNvPr>
          <p:cNvSpPr/>
          <p:nvPr/>
        </p:nvSpPr>
        <p:spPr>
          <a:xfrm>
            <a:off x="9476242" y="5264118"/>
            <a:ext cx="1457979" cy="669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Edge</a:t>
            </a:r>
            <a:endParaRPr lang="en-CA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97C701C-0194-4DC4-9CC2-750A80AC288D}"/>
              </a:ext>
            </a:extLst>
          </p:cNvPr>
          <p:cNvCxnSpPr>
            <a:stCxn id="18" idx="3"/>
            <a:endCxn id="51" idx="0"/>
          </p:cNvCxnSpPr>
          <p:nvPr/>
        </p:nvCxnSpPr>
        <p:spPr>
          <a:xfrm>
            <a:off x="8160942" y="4385052"/>
            <a:ext cx="2044290" cy="8790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Arrow: Down 27">
            <a:extLst>
              <a:ext uri="{FF2B5EF4-FFF2-40B4-BE49-F238E27FC236}">
                <a16:creationId xmlns:a16="http://schemas.microsoft.com/office/drawing/2014/main" id="{30758459-9565-478F-BD3C-99361AF35A75}"/>
              </a:ext>
            </a:extLst>
          </p:cNvPr>
          <p:cNvSpPr/>
          <p:nvPr/>
        </p:nvSpPr>
        <p:spPr>
          <a:xfrm rot="2815958">
            <a:off x="6892700" y="3094216"/>
            <a:ext cx="489920" cy="276933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6" name="Arrow: Down 55">
            <a:extLst>
              <a:ext uri="{FF2B5EF4-FFF2-40B4-BE49-F238E27FC236}">
                <a16:creationId xmlns:a16="http://schemas.microsoft.com/office/drawing/2014/main" id="{21619366-E43F-498D-9284-2FD882AFA7DB}"/>
              </a:ext>
            </a:extLst>
          </p:cNvPr>
          <p:cNvSpPr/>
          <p:nvPr/>
        </p:nvSpPr>
        <p:spPr>
          <a:xfrm rot="19286347">
            <a:off x="9370015" y="3147788"/>
            <a:ext cx="489920" cy="276933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5E763AA-A729-4A90-9648-F8838E0B7AEA}"/>
              </a:ext>
            </a:extLst>
          </p:cNvPr>
          <p:cNvSpPr/>
          <p:nvPr/>
        </p:nvSpPr>
        <p:spPr>
          <a:xfrm>
            <a:off x="9345440" y="6183091"/>
            <a:ext cx="2008360" cy="57942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0" name="Right Brace 59">
            <a:extLst>
              <a:ext uri="{FF2B5EF4-FFF2-40B4-BE49-F238E27FC236}">
                <a16:creationId xmlns:a16="http://schemas.microsoft.com/office/drawing/2014/main" id="{795387BD-720A-48B8-9422-CCC7070F8145}"/>
              </a:ext>
            </a:extLst>
          </p:cNvPr>
          <p:cNvSpPr/>
          <p:nvPr/>
        </p:nvSpPr>
        <p:spPr>
          <a:xfrm rot="16200000">
            <a:off x="10164954" y="4777056"/>
            <a:ext cx="369332" cy="260249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B6A6DBA-91B8-4B56-AA3C-3C468C429F06}"/>
              </a:ext>
            </a:extLst>
          </p:cNvPr>
          <p:cNvSpPr txBox="1"/>
          <p:nvPr/>
        </p:nvSpPr>
        <p:spPr>
          <a:xfrm>
            <a:off x="8070570" y="5990431"/>
            <a:ext cx="1012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Provider C</a:t>
            </a:r>
            <a:endParaRPr lang="en-CA" dirty="0"/>
          </a:p>
        </p:txBody>
      </p:sp>
      <p:sp>
        <p:nvSpPr>
          <p:cNvPr id="64" name="Arrow: Down 63">
            <a:extLst>
              <a:ext uri="{FF2B5EF4-FFF2-40B4-BE49-F238E27FC236}">
                <a16:creationId xmlns:a16="http://schemas.microsoft.com/office/drawing/2014/main" id="{89CCB871-B84F-4D47-8769-885588888C94}"/>
              </a:ext>
            </a:extLst>
          </p:cNvPr>
          <p:cNvSpPr/>
          <p:nvPr/>
        </p:nvSpPr>
        <p:spPr>
          <a:xfrm rot="5400000">
            <a:off x="8024321" y="4767520"/>
            <a:ext cx="489920" cy="276933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67776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8" grpId="1" animBg="1"/>
      <p:bldP spid="56" grpId="0" animBg="1"/>
      <p:bldP spid="6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0899E-43AA-4E5E-ADB6-0965930D7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Outcomes</a:t>
            </a:r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BEB8C0-D105-4661-BF70-DBD371200CA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 misconfiguration happened in Router  X due to command Y by user Z at time T resulting in traffic shift to router A.</a:t>
            </a:r>
            <a:endParaRPr lang="en-C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29EDE9-510F-4DB3-96C7-31DD0BCAF07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Anomaly at time T</a:t>
            </a:r>
          </a:p>
          <a:p>
            <a:r>
              <a:rPr lang="en-US" dirty="0"/>
              <a:t>Visualization of anomalies</a:t>
            </a:r>
          </a:p>
          <a:p>
            <a:r>
              <a:rPr lang="en-US" dirty="0"/>
              <a:t>Explain anomaly, e.g. affected features</a:t>
            </a:r>
          </a:p>
          <a:p>
            <a:r>
              <a:rPr lang="en-US" dirty="0"/>
              <a:t>Affected Devices</a:t>
            </a:r>
          </a:p>
          <a:p>
            <a:r>
              <a:rPr lang="en-US" dirty="0"/>
              <a:t>Potentially related Syslog commands</a:t>
            </a:r>
          </a:p>
          <a:p>
            <a:r>
              <a:rPr lang="en-US" dirty="0"/>
              <a:t>Similar Previous Anomalies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18928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A974D-581F-47EB-A0C7-579FEDDE1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 (Security Operations Center)</a:t>
            </a:r>
            <a:br>
              <a:rPr lang="en-US" dirty="0"/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Advanced Persistent Threats (APT)</a:t>
            </a:r>
            <a:endParaRPr lang="en-CA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7" name="Content Placeholder 6" descr="DVD player">
            <a:extLst>
              <a:ext uri="{FF2B5EF4-FFF2-40B4-BE49-F238E27FC236}">
                <a16:creationId xmlns:a16="http://schemas.microsoft.com/office/drawing/2014/main" id="{86A3DAC1-F1F6-4049-BF46-97196E905A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77265" y="3429000"/>
            <a:ext cx="914400" cy="914400"/>
          </a:xfrm>
        </p:spPr>
      </p:pic>
      <p:pic>
        <p:nvPicPr>
          <p:cNvPr id="9" name="Graphic 8" descr="DVD player">
            <a:extLst>
              <a:ext uri="{FF2B5EF4-FFF2-40B4-BE49-F238E27FC236}">
                <a16:creationId xmlns:a16="http://schemas.microsoft.com/office/drawing/2014/main" id="{F898AC2A-16A0-4BA0-A218-EE40FA2645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7153" y="3429000"/>
            <a:ext cx="914400" cy="914400"/>
          </a:xfrm>
          <a:prstGeom prst="rect">
            <a:avLst/>
          </a:prstGeom>
        </p:spPr>
      </p:pic>
      <p:pic>
        <p:nvPicPr>
          <p:cNvPr id="11" name="Graphic 10" descr="Laptop">
            <a:extLst>
              <a:ext uri="{FF2B5EF4-FFF2-40B4-BE49-F238E27FC236}">
                <a16:creationId xmlns:a16="http://schemas.microsoft.com/office/drawing/2014/main" id="{B554ECD3-230C-4C40-BA67-417245BBB5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53200" y="2160191"/>
            <a:ext cx="914400" cy="914400"/>
          </a:xfrm>
          <a:prstGeom prst="rect">
            <a:avLst/>
          </a:prstGeom>
        </p:spPr>
      </p:pic>
      <p:pic>
        <p:nvPicPr>
          <p:cNvPr id="13" name="Graphic 12" descr="Laptop">
            <a:extLst>
              <a:ext uri="{FF2B5EF4-FFF2-40B4-BE49-F238E27FC236}">
                <a16:creationId xmlns:a16="http://schemas.microsoft.com/office/drawing/2014/main" id="{657675BB-E02B-43DB-8096-20F5C172238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05347" y="3413594"/>
            <a:ext cx="914400" cy="914400"/>
          </a:xfrm>
          <a:prstGeom prst="rect">
            <a:avLst/>
          </a:prstGeom>
        </p:spPr>
      </p:pic>
      <p:pic>
        <p:nvPicPr>
          <p:cNvPr id="14" name="Graphic 13" descr="Laptop">
            <a:extLst>
              <a:ext uri="{FF2B5EF4-FFF2-40B4-BE49-F238E27FC236}">
                <a16:creationId xmlns:a16="http://schemas.microsoft.com/office/drawing/2014/main" id="{4B85AFF5-7788-4A33-9174-6175A971F0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53200" y="4952218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1289DB9-1C3F-4ADD-8C03-0285F0743280}"/>
              </a:ext>
            </a:extLst>
          </p:cNvPr>
          <p:cNvSpPr txBox="1"/>
          <p:nvPr/>
        </p:nvSpPr>
        <p:spPr>
          <a:xfrm>
            <a:off x="1411550" y="4474346"/>
            <a:ext cx="1047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Internet Gateway</a:t>
            </a:r>
            <a:endParaRPr lang="en-CA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8F49ED-C061-4AFB-A4E6-83335DD0F2D3}"/>
              </a:ext>
            </a:extLst>
          </p:cNvPr>
          <p:cNvSpPr txBox="1"/>
          <p:nvPr/>
        </p:nvSpPr>
        <p:spPr>
          <a:xfrm>
            <a:off x="4680570" y="4303580"/>
            <a:ext cx="1047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Switch</a:t>
            </a:r>
            <a:endParaRPr lang="en-CA" dirty="0"/>
          </a:p>
        </p:txBody>
      </p:sp>
      <p:pic>
        <p:nvPicPr>
          <p:cNvPr id="18" name="Graphic 17" descr="Email">
            <a:extLst>
              <a:ext uri="{FF2B5EF4-FFF2-40B4-BE49-F238E27FC236}">
                <a16:creationId xmlns:a16="http://schemas.microsoft.com/office/drawing/2014/main" id="{BD75199A-E0AD-4F84-8C25-D30EF4EAC20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56193" y="2617391"/>
            <a:ext cx="592358" cy="59235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CAA1881-80F9-4C57-934F-8488340D76F6}"/>
              </a:ext>
            </a:extLst>
          </p:cNvPr>
          <p:cNvSpPr txBox="1"/>
          <p:nvPr/>
        </p:nvSpPr>
        <p:spPr>
          <a:xfrm>
            <a:off x="5149923" y="1971060"/>
            <a:ext cx="15717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Malicious file downloaded</a:t>
            </a:r>
            <a:endParaRPr lang="en-CA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A7C4FF5-7A77-45D2-ABA0-C9BDA2976302}"/>
              </a:ext>
            </a:extLst>
          </p:cNvPr>
          <p:cNvSpPr/>
          <p:nvPr/>
        </p:nvSpPr>
        <p:spPr>
          <a:xfrm>
            <a:off x="1306103" y="2625317"/>
            <a:ext cx="1597256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Intrusion Detection System </a:t>
            </a:r>
            <a:endParaRPr lang="en-CA" dirty="0"/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628B57E5-A849-4E55-B73F-3DAA3AA4C0CB}"/>
              </a:ext>
            </a:extLst>
          </p:cNvPr>
          <p:cNvCxnSpPr>
            <a:cxnSpLocks/>
          </p:cNvCxnSpPr>
          <p:nvPr/>
        </p:nvCxnSpPr>
        <p:spPr>
          <a:xfrm flipV="1">
            <a:off x="838200" y="2617391"/>
            <a:ext cx="6157404" cy="8630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710F203-7338-48C7-B6AD-E9C68782E0F0}"/>
              </a:ext>
            </a:extLst>
          </p:cNvPr>
          <p:cNvCxnSpPr>
            <a:stCxn id="9" idx="3"/>
            <a:endCxn id="11" idx="2"/>
          </p:cNvCxnSpPr>
          <p:nvPr/>
        </p:nvCxnSpPr>
        <p:spPr>
          <a:xfrm flipV="1">
            <a:off x="5661553" y="3074591"/>
            <a:ext cx="1648847" cy="8116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E0F06E0-8BE3-480D-815A-418E5A0605DD}"/>
              </a:ext>
            </a:extLst>
          </p:cNvPr>
          <p:cNvCxnSpPr>
            <a:stCxn id="9" idx="3"/>
            <a:endCxn id="13" idx="1"/>
          </p:cNvCxnSpPr>
          <p:nvPr/>
        </p:nvCxnSpPr>
        <p:spPr>
          <a:xfrm flipV="1">
            <a:off x="5661553" y="3870794"/>
            <a:ext cx="1843794" cy="154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07A7900-2E75-49CD-8E1A-90A13B5CE770}"/>
              </a:ext>
            </a:extLst>
          </p:cNvPr>
          <p:cNvCxnSpPr>
            <a:stCxn id="9" idx="3"/>
            <a:endCxn id="14" idx="0"/>
          </p:cNvCxnSpPr>
          <p:nvPr/>
        </p:nvCxnSpPr>
        <p:spPr>
          <a:xfrm>
            <a:off x="5661553" y="3886200"/>
            <a:ext cx="1648847" cy="10660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2274FD7E-BB19-46F6-ADD8-9EC93A97DEA0}"/>
              </a:ext>
            </a:extLst>
          </p:cNvPr>
          <p:cNvCxnSpPr>
            <a:endCxn id="13" idx="1"/>
          </p:cNvCxnSpPr>
          <p:nvPr/>
        </p:nvCxnSpPr>
        <p:spPr>
          <a:xfrm rot="16200000" flipH="1">
            <a:off x="7077351" y="3442797"/>
            <a:ext cx="661045" cy="194947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0" name="Connector: Curved 39">
            <a:extLst>
              <a:ext uri="{FF2B5EF4-FFF2-40B4-BE49-F238E27FC236}">
                <a16:creationId xmlns:a16="http://schemas.microsoft.com/office/drawing/2014/main" id="{555C24F3-76B6-4FA8-BFD4-2D15236719FA}"/>
              </a:ext>
            </a:extLst>
          </p:cNvPr>
          <p:cNvCxnSpPr>
            <a:cxnSpLocks/>
          </p:cNvCxnSpPr>
          <p:nvPr/>
        </p:nvCxnSpPr>
        <p:spPr>
          <a:xfrm rot="16200000" flipH="1">
            <a:off x="6501734" y="4018412"/>
            <a:ext cx="1757881" cy="140546"/>
          </a:xfrm>
          <a:prstGeom prst="curvedConnector3">
            <a:avLst>
              <a:gd name="adj1" fmla="val 71717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E623890B-D98E-4CD0-AC8B-8034F2CB4B18}"/>
              </a:ext>
            </a:extLst>
          </p:cNvPr>
          <p:cNvSpPr txBox="1"/>
          <p:nvPr/>
        </p:nvSpPr>
        <p:spPr>
          <a:xfrm>
            <a:off x="7663673" y="4419209"/>
            <a:ext cx="17821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Malware spreads through the network</a:t>
            </a:r>
            <a:endParaRPr lang="en-CA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0B59697-190F-4859-8DA5-6F03B547D44C}"/>
              </a:ext>
            </a:extLst>
          </p:cNvPr>
          <p:cNvCxnSpPr>
            <a:stCxn id="14" idx="1"/>
          </p:cNvCxnSpPr>
          <p:nvPr/>
        </p:nvCxnSpPr>
        <p:spPr>
          <a:xfrm flipH="1" flipV="1">
            <a:off x="838200" y="3870793"/>
            <a:ext cx="6015000" cy="15386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CD65161B-D875-4F16-8CE3-CC859B1109ED}"/>
              </a:ext>
            </a:extLst>
          </p:cNvPr>
          <p:cNvSpPr txBox="1"/>
          <p:nvPr/>
        </p:nvSpPr>
        <p:spPr>
          <a:xfrm>
            <a:off x="3691740" y="4944249"/>
            <a:ext cx="19776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Malware communicates with the control server</a:t>
            </a:r>
            <a:endParaRPr lang="en-CA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997748B-44DD-4FCA-986C-F3B54D1BD44B}"/>
              </a:ext>
            </a:extLst>
          </p:cNvPr>
          <p:cNvSpPr txBox="1"/>
          <p:nvPr/>
        </p:nvSpPr>
        <p:spPr>
          <a:xfrm>
            <a:off x="9516862" y="1690688"/>
            <a:ext cx="243157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IDS can identify some malicious behavior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IDS can’t detect lateral movement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Malware traffic is harder to detect with signatures, e.g. periodic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Anomaly Detection to identify abnormal lateral movement, and traffic with special characteristics, e.g. periodic</a:t>
            </a:r>
            <a:endParaRPr lang="en-CA" dirty="0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E64B2D0-3660-43F7-8708-C7C3D1601121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2491665" y="3886200"/>
            <a:ext cx="225548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8114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45" grpId="0"/>
      <p:bldP spid="4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77F25-741D-46E0-B074-6411B1B02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Mitre</a:t>
            </a:r>
            <a:r>
              <a:rPr lang="en-US" dirty="0"/>
              <a:t> </a:t>
            </a:r>
            <a:r>
              <a:rPr lang="en-US" dirty="0" err="1"/>
              <a:t>Att&amp;ck</a:t>
            </a:r>
            <a:r>
              <a:rPr lang="en-US" dirty="0"/>
              <a:t> &amp; Cyber Kill-Chain</a:t>
            </a:r>
            <a:endParaRPr lang="en-CA" dirty="0"/>
          </a:p>
        </p:txBody>
      </p:sp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A3337EBC-F1F4-4ED4-A2A6-A4DA00CC32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767" y="1592132"/>
            <a:ext cx="8735209" cy="477639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6FCB7A-F5CE-4D41-AD49-D3ABC4C6FCC0}"/>
              </a:ext>
            </a:extLst>
          </p:cNvPr>
          <p:cNvSpPr txBox="1"/>
          <p:nvPr/>
        </p:nvSpPr>
        <p:spPr>
          <a:xfrm>
            <a:off x="9973559" y="2011680"/>
            <a:ext cx="1893321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ML to help analyst with investigation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IDS alerts are overwhelming, high false positive</a:t>
            </a:r>
            <a:endParaRPr lang="en-CA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8C37532-6DE1-4C26-AB59-A268320C57BF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9455085" y="3165842"/>
            <a:ext cx="518474" cy="138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EC2D9EF-A2D5-4F3B-86DB-A980BFAE1C9C}"/>
              </a:ext>
            </a:extLst>
          </p:cNvPr>
          <p:cNvSpPr txBox="1"/>
          <p:nvPr/>
        </p:nvSpPr>
        <p:spPr>
          <a:xfrm>
            <a:off x="470517" y="6368527"/>
            <a:ext cx="8735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https://blog.netspi.com/prioritizing-the-remediation-of-mitre-attck-framework-gaps/</a:t>
            </a:r>
          </a:p>
        </p:txBody>
      </p:sp>
    </p:spTree>
    <p:extLst>
      <p:ext uri="{BB962C8B-B14F-4D97-AF65-F5344CB8AC3E}">
        <p14:creationId xmlns:p14="http://schemas.microsoft.com/office/powerpoint/2010/main" val="39804026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A974D-581F-47EB-A0C7-579FEDDE1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Incident Detection</a:t>
            </a:r>
            <a:endParaRPr lang="en-CA" dirty="0"/>
          </a:p>
        </p:txBody>
      </p:sp>
      <p:pic>
        <p:nvPicPr>
          <p:cNvPr id="7" name="Content Placeholder 6" descr="DVD player">
            <a:extLst>
              <a:ext uri="{FF2B5EF4-FFF2-40B4-BE49-F238E27FC236}">
                <a16:creationId xmlns:a16="http://schemas.microsoft.com/office/drawing/2014/main" id="{86A3DAC1-F1F6-4049-BF46-97196E905A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77265" y="3429000"/>
            <a:ext cx="914400" cy="914400"/>
          </a:xfrm>
        </p:spPr>
      </p:pic>
      <p:pic>
        <p:nvPicPr>
          <p:cNvPr id="9" name="Graphic 8" descr="DVD player">
            <a:extLst>
              <a:ext uri="{FF2B5EF4-FFF2-40B4-BE49-F238E27FC236}">
                <a16:creationId xmlns:a16="http://schemas.microsoft.com/office/drawing/2014/main" id="{F898AC2A-16A0-4BA0-A218-EE40FA2645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7153" y="3429000"/>
            <a:ext cx="914400" cy="914400"/>
          </a:xfrm>
          <a:prstGeom prst="rect">
            <a:avLst/>
          </a:prstGeom>
        </p:spPr>
      </p:pic>
      <p:pic>
        <p:nvPicPr>
          <p:cNvPr id="11" name="Graphic 10" descr="Laptop">
            <a:extLst>
              <a:ext uri="{FF2B5EF4-FFF2-40B4-BE49-F238E27FC236}">
                <a16:creationId xmlns:a16="http://schemas.microsoft.com/office/drawing/2014/main" id="{B554ECD3-230C-4C40-BA67-417245BBB5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53200" y="2160191"/>
            <a:ext cx="914400" cy="914400"/>
          </a:xfrm>
          <a:prstGeom prst="rect">
            <a:avLst/>
          </a:prstGeom>
        </p:spPr>
      </p:pic>
      <p:pic>
        <p:nvPicPr>
          <p:cNvPr id="13" name="Graphic 12" descr="Laptop">
            <a:extLst>
              <a:ext uri="{FF2B5EF4-FFF2-40B4-BE49-F238E27FC236}">
                <a16:creationId xmlns:a16="http://schemas.microsoft.com/office/drawing/2014/main" id="{657675BB-E02B-43DB-8096-20F5C172238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05347" y="3413594"/>
            <a:ext cx="914400" cy="914400"/>
          </a:xfrm>
          <a:prstGeom prst="rect">
            <a:avLst/>
          </a:prstGeom>
        </p:spPr>
      </p:pic>
      <p:pic>
        <p:nvPicPr>
          <p:cNvPr id="14" name="Graphic 13" descr="Laptop">
            <a:extLst>
              <a:ext uri="{FF2B5EF4-FFF2-40B4-BE49-F238E27FC236}">
                <a16:creationId xmlns:a16="http://schemas.microsoft.com/office/drawing/2014/main" id="{4B85AFF5-7788-4A33-9174-6175A971F0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53200" y="4952218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1289DB9-1C3F-4ADD-8C03-0285F0743280}"/>
              </a:ext>
            </a:extLst>
          </p:cNvPr>
          <p:cNvSpPr txBox="1"/>
          <p:nvPr/>
        </p:nvSpPr>
        <p:spPr>
          <a:xfrm>
            <a:off x="1411550" y="4474346"/>
            <a:ext cx="1047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Internet Gateway</a:t>
            </a:r>
            <a:endParaRPr lang="en-CA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8F49ED-C061-4AFB-A4E6-83335DD0F2D3}"/>
              </a:ext>
            </a:extLst>
          </p:cNvPr>
          <p:cNvSpPr txBox="1"/>
          <p:nvPr/>
        </p:nvSpPr>
        <p:spPr>
          <a:xfrm>
            <a:off x="4680570" y="4303580"/>
            <a:ext cx="1047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Switch</a:t>
            </a:r>
            <a:endParaRPr lang="en-CA" dirty="0"/>
          </a:p>
        </p:txBody>
      </p:sp>
      <p:pic>
        <p:nvPicPr>
          <p:cNvPr id="18" name="Graphic 17" descr="Email">
            <a:extLst>
              <a:ext uri="{FF2B5EF4-FFF2-40B4-BE49-F238E27FC236}">
                <a16:creationId xmlns:a16="http://schemas.microsoft.com/office/drawing/2014/main" id="{BD75199A-E0AD-4F84-8C25-D30EF4EAC20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56193" y="2617391"/>
            <a:ext cx="592358" cy="59235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CAA1881-80F9-4C57-934F-8488340D76F6}"/>
              </a:ext>
            </a:extLst>
          </p:cNvPr>
          <p:cNvSpPr txBox="1"/>
          <p:nvPr/>
        </p:nvSpPr>
        <p:spPr>
          <a:xfrm>
            <a:off x="5149923" y="1971060"/>
            <a:ext cx="15717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Malicious file downloaded</a:t>
            </a:r>
            <a:endParaRPr lang="en-CA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A7C4FF5-7A77-45D2-ABA0-C9BDA2976302}"/>
              </a:ext>
            </a:extLst>
          </p:cNvPr>
          <p:cNvSpPr/>
          <p:nvPr/>
        </p:nvSpPr>
        <p:spPr>
          <a:xfrm>
            <a:off x="1306103" y="2625317"/>
            <a:ext cx="1597256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Intrusion Detection System </a:t>
            </a:r>
            <a:endParaRPr lang="en-CA" dirty="0"/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628B57E5-A849-4E55-B73F-3DAA3AA4C0CB}"/>
              </a:ext>
            </a:extLst>
          </p:cNvPr>
          <p:cNvCxnSpPr>
            <a:cxnSpLocks/>
          </p:cNvCxnSpPr>
          <p:nvPr/>
        </p:nvCxnSpPr>
        <p:spPr>
          <a:xfrm flipV="1">
            <a:off x="838200" y="2617391"/>
            <a:ext cx="6157404" cy="8630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710F203-7338-48C7-B6AD-E9C68782E0F0}"/>
              </a:ext>
            </a:extLst>
          </p:cNvPr>
          <p:cNvCxnSpPr>
            <a:stCxn id="9" idx="3"/>
            <a:endCxn id="11" idx="2"/>
          </p:cNvCxnSpPr>
          <p:nvPr/>
        </p:nvCxnSpPr>
        <p:spPr>
          <a:xfrm flipV="1">
            <a:off x="5661553" y="3074591"/>
            <a:ext cx="1648847" cy="8116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E0F06E0-8BE3-480D-815A-418E5A0605DD}"/>
              </a:ext>
            </a:extLst>
          </p:cNvPr>
          <p:cNvCxnSpPr>
            <a:stCxn id="9" idx="3"/>
            <a:endCxn id="13" idx="1"/>
          </p:cNvCxnSpPr>
          <p:nvPr/>
        </p:nvCxnSpPr>
        <p:spPr>
          <a:xfrm flipV="1">
            <a:off x="5661553" y="3870794"/>
            <a:ext cx="1843794" cy="154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07A7900-2E75-49CD-8E1A-90A13B5CE770}"/>
              </a:ext>
            </a:extLst>
          </p:cNvPr>
          <p:cNvCxnSpPr>
            <a:stCxn id="9" idx="3"/>
            <a:endCxn id="14" idx="0"/>
          </p:cNvCxnSpPr>
          <p:nvPr/>
        </p:nvCxnSpPr>
        <p:spPr>
          <a:xfrm>
            <a:off x="5661553" y="3886200"/>
            <a:ext cx="1648847" cy="10660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2274FD7E-BB19-46F6-ADD8-9EC93A97DEA0}"/>
              </a:ext>
            </a:extLst>
          </p:cNvPr>
          <p:cNvCxnSpPr>
            <a:endCxn id="13" idx="1"/>
          </p:cNvCxnSpPr>
          <p:nvPr/>
        </p:nvCxnSpPr>
        <p:spPr>
          <a:xfrm rot="16200000" flipH="1">
            <a:off x="7077351" y="3442797"/>
            <a:ext cx="661045" cy="194947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0" name="Connector: Curved 39">
            <a:extLst>
              <a:ext uri="{FF2B5EF4-FFF2-40B4-BE49-F238E27FC236}">
                <a16:creationId xmlns:a16="http://schemas.microsoft.com/office/drawing/2014/main" id="{555C24F3-76B6-4FA8-BFD4-2D15236719FA}"/>
              </a:ext>
            </a:extLst>
          </p:cNvPr>
          <p:cNvCxnSpPr>
            <a:cxnSpLocks/>
          </p:cNvCxnSpPr>
          <p:nvPr/>
        </p:nvCxnSpPr>
        <p:spPr>
          <a:xfrm rot="16200000" flipH="1">
            <a:off x="6501734" y="4018412"/>
            <a:ext cx="1757881" cy="140546"/>
          </a:xfrm>
          <a:prstGeom prst="curvedConnector3">
            <a:avLst>
              <a:gd name="adj1" fmla="val 71717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E623890B-D98E-4CD0-AC8B-8034F2CB4B18}"/>
              </a:ext>
            </a:extLst>
          </p:cNvPr>
          <p:cNvSpPr txBox="1"/>
          <p:nvPr/>
        </p:nvSpPr>
        <p:spPr>
          <a:xfrm>
            <a:off x="7663673" y="4419209"/>
            <a:ext cx="17821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Malware spreads through the network</a:t>
            </a:r>
            <a:endParaRPr lang="en-CA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0B59697-190F-4859-8DA5-6F03B547D44C}"/>
              </a:ext>
            </a:extLst>
          </p:cNvPr>
          <p:cNvCxnSpPr>
            <a:stCxn id="14" idx="1"/>
          </p:cNvCxnSpPr>
          <p:nvPr/>
        </p:nvCxnSpPr>
        <p:spPr>
          <a:xfrm flipH="1" flipV="1">
            <a:off x="838200" y="3870793"/>
            <a:ext cx="6015000" cy="15386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CD65161B-D875-4F16-8CE3-CC859B1109ED}"/>
              </a:ext>
            </a:extLst>
          </p:cNvPr>
          <p:cNvSpPr txBox="1"/>
          <p:nvPr/>
        </p:nvSpPr>
        <p:spPr>
          <a:xfrm>
            <a:off x="3691740" y="4944249"/>
            <a:ext cx="19776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Malware communicates with the control server</a:t>
            </a:r>
            <a:endParaRPr lang="en-CA" dirty="0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E64B2D0-3660-43F7-8708-C7C3D1601121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2491665" y="3886200"/>
            <a:ext cx="225548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6C52B53-5FFE-43B1-A70A-77E149120B6D}"/>
              </a:ext>
            </a:extLst>
          </p:cNvPr>
          <p:cNvSpPr txBox="1"/>
          <p:nvPr/>
        </p:nvSpPr>
        <p:spPr>
          <a:xfrm>
            <a:off x="8581390" y="1646208"/>
            <a:ext cx="29183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Detect Abnormality in Traffic</a:t>
            </a:r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B4490F-9392-495C-A90D-5ECB553E1D0C}"/>
              </a:ext>
            </a:extLst>
          </p:cNvPr>
          <p:cNvSpPr txBox="1"/>
          <p:nvPr/>
        </p:nvSpPr>
        <p:spPr>
          <a:xfrm>
            <a:off x="8581390" y="2438791"/>
            <a:ext cx="2918356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Correlate (</a:t>
            </a:r>
            <a:r>
              <a:rPr lang="en-US" dirty="0">
                <a:solidFill>
                  <a:srgbClr val="FF0000"/>
                </a:solidFill>
              </a:rPr>
              <a:t>co-caused</a:t>
            </a:r>
            <a:r>
              <a:rPr lang="en-US" dirty="0"/>
              <a:t>) anomalies together, look for other suspicious behavior </a:t>
            </a:r>
            <a:r>
              <a:rPr lang="en-US" b="1" dirty="0">
                <a:solidFill>
                  <a:srgbClr val="FF0000"/>
                </a:solidFill>
              </a:rPr>
              <a:t>(Build Incident)</a:t>
            </a:r>
            <a:endParaRPr lang="en-CA" b="1" dirty="0">
              <a:solidFill>
                <a:srgbClr val="FF0000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24DF78D-B6E2-4E6E-A1DA-E137D2827B19}"/>
              </a:ext>
            </a:extLst>
          </p:cNvPr>
          <p:cNvCxnSpPr>
            <a:stCxn id="3" idx="2"/>
            <a:endCxn id="48" idx="0"/>
          </p:cNvCxnSpPr>
          <p:nvPr/>
        </p:nvCxnSpPr>
        <p:spPr>
          <a:xfrm flipH="1">
            <a:off x="4680570" y="2015540"/>
            <a:ext cx="5359998" cy="292870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000894D-7F54-4B93-86E1-7E905A76E331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7406538" y="3038956"/>
            <a:ext cx="1174852" cy="6186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28CE176-BB57-4A8B-86A9-9852B8F3EF01}"/>
              </a:ext>
            </a:extLst>
          </p:cNvPr>
          <p:cNvCxnSpPr>
            <a:cxnSpLocks/>
            <a:stCxn id="4" idx="1"/>
          </p:cNvCxnSpPr>
          <p:nvPr/>
        </p:nvCxnSpPr>
        <p:spPr>
          <a:xfrm flipH="1" flipV="1">
            <a:off x="6435378" y="2514602"/>
            <a:ext cx="2146012" cy="5243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FC0F9FE-E2E6-4BC5-9F07-29C8F833B6C2}"/>
              </a:ext>
            </a:extLst>
          </p:cNvPr>
          <p:cNvSpPr txBox="1"/>
          <p:nvPr/>
        </p:nvSpPr>
        <p:spPr>
          <a:xfrm>
            <a:off x="8581390" y="5269101"/>
            <a:ext cx="29183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Incorporate analyst feedback</a:t>
            </a:r>
            <a:endParaRPr lang="en-CA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0FBC74A-3723-471B-AB77-B5D6AE27EB92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10040568" y="2015540"/>
            <a:ext cx="0" cy="4232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040FA1A-9885-43D0-99CC-E67F6D1A34D4}"/>
              </a:ext>
            </a:extLst>
          </p:cNvPr>
          <p:cNvCxnSpPr>
            <a:cxnSpLocks/>
            <a:stCxn id="4" idx="2"/>
            <a:endCxn id="24" idx="0"/>
          </p:cNvCxnSpPr>
          <p:nvPr/>
        </p:nvCxnSpPr>
        <p:spPr>
          <a:xfrm>
            <a:off x="10040568" y="3639120"/>
            <a:ext cx="0" cy="16299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0905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3D86E-2491-4E4F-B2E3-9CB3BE20D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Outcomes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AD06D-A1B1-45DA-9BC1-16FF7446C7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Stuxnet</a:t>
            </a:r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18340C-DA04-4BF6-9324-A5AC7983358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Potential data </a:t>
            </a:r>
            <a:r>
              <a:rPr lang="en-US" dirty="0" err="1"/>
              <a:t>exfilteration</a:t>
            </a:r>
            <a:r>
              <a:rPr lang="en-US" dirty="0"/>
              <a:t> at time T from user X, with score Z.</a:t>
            </a:r>
          </a:p>
          <a:p>
            <a:r>
              <a:rPr lang="en-US" dirty="0"/>
              <a:t>Preceded by anomalies … with scores … .</a:t>
            </a:r>
          </a:p>
          <a:p>
            <a:r>
              <a:rPr lang="en-US" dirty="0"/>
              <a:t>Score for each phase of the attack chain.</a:t>
            </a:r>
          </a:p>
          <a:p>
            <a:r>
              <a:rPr lang="en-CA" dirty="0"/>
              <a:t>Potentially affected machines.</a:t>
            </a:r>
          </a:p>
          <a:p>
            <a:r>
              <a:rPr lang="en-CA" dirty="0"/>
              <a:t>Similar previous anomalies.</a:t>
            </a:r>
          </a:p>
        </p:txBody>
      </p:sp>
    </p:spTree>
    <p:extLst>
      <p:ext uri="{BB962C8B-B14F-4D97-AF65-F5344CB8AC3E}">
        <p14:creationId xmlns:p14="http://schemas.microsoft.com/office/powerpoint/2010/main" val="28615687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10B4548-DD0D-4359-AF78-12E94FAA9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DARPA dataset</a:t>
            </a:r>
            <a:endParaRPr lang="en-CA" dirty="0"/>
          </a:p>
        </p:txBody>
      </p:sp>
      <p:pic>
        <p:nvPicPr>
          <p:cNvPr id="12" name="Content Placeholder 11" descr="A picture containing food&#10;&#10;Description automatically generated">
            <a:extLst>
              <a:ext uri="{FF2B5EF4-FFF2-40B4-BE49-F238E27FC236}">
                <a16:creationId xmlns:a16="http://schemas.microsoft.com/office/drawing/2014/main" id="{4FB313D2-39FE-48DC-9162-D21EF4D38A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4945224" cy="4351338"/>
          </a:xfr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0EB991E-D0A2-44E1-BEEB-D13BB830FB8E}"/>
              </a:ext>
            </a:extLst>
          </p:cNvPr>
          <p:cNvSpPr txBox="1"/>
          <p:nvPr/>
        </p:nvSpPr>
        <p:spPr>
          <a:xfrm>
            <a:off x="8042988" y="1894114"/>
            <a:ext cx="36109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Hazem Soliman, “</a:t>
            </a:r>
            <a:r>
              <a:rPr lang="en-US" i="1" dirty="0"/>
              <a:t>An Optimization Approach to Graph Partitioning for</a:t>
            </a:r>
          </a:p>
          <a:p>
            <a:r>
              <a:rPr lang="en-US" i="1" dirty="0"/>
              <a:t>Detecting Persistent Attacks in Enterprise Networks</a:t>
            </a:r>
            <a:r>
              <a:rPr lang="en-US" dirty="0"/>
              <a:t>”, to appear ISNCC 2020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426378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94909-D65C-4557-BAE8-7A4D50E72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Incidents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15226-40B9-49FD-8AA2-1E58D81C1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StuxNet</a:t>
            </a:r>
            <a:r>
              <a:rPr lang="en-US" dirty="0"/>
              <a:t> </a:t>
            </a:r>
            <a:r>
              <a:rPr lang="en-US" i="1" dirty="0"/>
              <a:t>(</a:t>
            </a:r>
            <a:r>
              <a:rPr lang="en-CA" i="1" dirty="0"/>
              <a:t>W32.Stuxnet Dossier, Symantec)</a:t>
            </a:r>
            <a:endParaRPr lang="en-US" i="1" dirty="0"/>
          </a:p>
          <a:p>
            <a:r>
              <a:rPr lang="en-US" dirty="0"/>
              <a:t>APT1, APT3 </a:t>
            </a:r>
            <a:r>
              <a:rPr lang="en-US" i="1" dirty="0"/>
              <a:t>(</a:t>
            </a:r>
            <a:r>
              <a:rPr lang="en-CA" i="1" dirty="0"/>
              <a:t>APT1, </a:t>
            </a:r>
            <a:r>
              <a:rPr lang="en-US" i="1" dirty="0"/>
              <a:t>Exposing One of China’s Cyber </a:t>
            </a:r>
            <a:r>
              <a:rPr lang="en-CA" i="1" dirty="0"/>
              <a:t>Espionage Units, Mandiant)</a:t>
            </a:r>
          </a:p>
        </p:txBody>
      </p:sp>
    </p:spTree>
    <p:extLst>
      <p:ext uri="{BB962C8B-B14F-4D97-AF65-F5344CB8AC3E}">
        <p14:creationId xmlns:p14="http://schemas.microsoft.com/office/powerpoint/2010/main" val="13202802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6AF32-FA76-479B-958F-41372647C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StuxNet</a:t>
            </a:r>
            <a:endParaRPr lang="en-C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62D7E24-5899-45AA-A57D-87C5951844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8964" y="1825625"/>
            <a:ext cx="581407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0650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DE866-2C92-4FF9-B05B-0373554FC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APT1</a:t>
            </a:r>
            <a:endParaRPr lang="en-C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246B2BD-84A7-43B9-AB9F-D481520272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48694"/>
            <a:ext cx="1051560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5685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6F421-B0DB-4470-B30A-0F09EE7C7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CA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3F91246-F4B6-4987-85DF-43FB7CAE23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1915350"/>
              </p:ext>
            </p:extLst>
          </p:nvPr>
        </p:nvGraphicFramePr>
        <p:xfrm>
          <a:off x="2166150" y="1825624"/>
          <a:ext cx="9187649" cy="43532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497D65F5-CCD5-4532-9575-2CD26C433638}"/>
              </a:ext>
            </a:extLst>
          </p:cNvPr>
          <p:cNvSpPr/>
          <p:nvPr/>
        </p:nvSpPr>
        <p:spPr>
          <a:xfrm>
            <a:off x="212324" y="3432589"/>
            <a:ext cx="1251751" cy="8345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 Feeds</a:t>
            </a:r>
            <a:endParaRPr lang="en-CA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945F69-BE5C-4492-AD28-CB5B1E7F7D27}"/>
              </a:ext>
            </a:extLst>
          </p:cNvPr>
          <p:cNvSpPr/>
          <p:nvPr/>
        </p:nvSpPr>
        <p:spPr>
          <a:xfrm>
            <a:off x="275948" y="3505090"/>
            <a:ext cx="1251751" cy="8345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 Feeds</a:t>
            </a:r>
            <a:endParaRPr lang="en-CA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D3EB14-0D4D-4D6D-86B3-80940261718F}"/>
              </a:ext>
            </a:extLst>
          </p:cNvPr>
          <p:cNvSpPr/>
          <p:nvPr/>
        </p:nvSpPr>
        <p:spPr>
          <a:xfrm>
            <a:off x="339572" y="3577591"/>
            <a:ext cx="1251751" cy="8345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 Feeds</a:t>
            </a:r>
            <a:endParaRPr lang="en-CA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A6D596F-5479-4F04-9016-79EA778C26A5}"/>
              </a:ext>
            </a:extLst>
          </p:cNvPr>
          <p:cNvCxnSpPr>
            <a:stCxn id="7" idx="3"/>
            <a:endCxn id="4" idx="1"/>
          </p:cNvCxnSpPr>
          <p:nvPr/>
        </p:nvCxnSpPr>
        <p:spPr>
          <a:xfrm>
            <a:off x="1591323" y="3994842"/>
            <a:ext cx="574827" cy="73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60991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A974D-581F-47EB-A0C7-579FEDDE1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Point Agents – Adversarial Machine Learning</a:t>
            </a:r>
            <a:endParaRPr lang="en-CA" dirty="0"/>
          </a:p>
        </p:txBody>
      </p:sp>
      <p:pic>
        <p:nvPicPr>
          <p:cNvPr id="7" name="Content Placeholder 6" descr="DVD player">
            <a:extLst>
              <a:ext uri="{FF2B5EF4-FFF2-40B4-BE49-F238E27FC236}">
                <a16:creationId xmlns:a16="http://schemas.microsoft.com/office/drawing/2014/main" id="{86A3DAC1-F1F6-4049-BF46-97196E905A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77265" y="3429000"/>
            <a:ext cx="914400" cy="914400"/>
          </a:xfrm>
        </p:spPr>
      </p:pic>
      <p:pic>
        <p:nvPicPr>
          <p:cNvPr id="9" name="Graphic 8" descr="DVD player">
            <a:extLst>
              <a:ext uri="{FF2B5EF4-FFF2-40B4-BE49-F238E27FC236}">
                <a16:creationId xmlns:a16="http://schemas.microsoft.com/office/drawing/2014/main" id="{F898AC2A-16A0-4BA0-A218-EE40FA2645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7153" y="3429000"/>
            <a:ext cx="914400" cy="914400"/>
          </a:xfrm>
          <a:prstGeom prst="rect">
            <a:avLst/>
          </a:prstGeom>
        </p:spPr>
      </p:pic>
      <p:pic>
        <p:nvPicPr>
          <p:cNvPr id="11" name="Graphic 10" descr="Laptop">
            <a:extLst>
              <a:ext uri="{FF2B5EF4-FFF2-40B4-BE49-F238E27FC236}">
                <a16:creationId xmlns:a16="http://schemas.microsoft.com/office/drawing/2014/main" id="{B554ECD3-230C-4C40-BA67-417245BBB5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53200" y="2160191"/>
            <a:ext cx="914400" cy="914400"/>
          </a:xfrm>
          <a:prstGeom prst="rect">
            <a:avLst/>
          </a:prstGeom>
        </p:spPr>
      </p:pic>
      <p:pic>
        <p:nvPicPr>
          <p:cNvPr id="13" name="Graphic 12" descr="Laptop">
            <a:extLst>
              <a:ext uri="{FF2B5EF4-FFF2-40B4-BE49-F238E27FC236}">
                <a16:creationId xmlns:a16="http://schemas.microsoft.com/office/drawing/2014/main" id="{657675BB-E02B-43DB-8096-20F5C172238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05347" y="3413594"/>
            <a:ext cx="914400" cy="914400"/>
          </a:xfrm>
          <a:prstGeom prst="rect">
            <a:avLst/>
          </a:prstGeom>
        </p:spPr>
      </p:pic>
      <p:pic>
        <p:nvPicPr>
          <p:cNvPr id="14" name="Graphic 13" descr="Laptop">
            <a:extLst>
              <a:ext uri="{FF2B5EF4-FFF2-40B4-BE49-F238E27FC236}">
                <a16:creationId xmlns:a16="http://schemas.microsoft.com/office/drawing/2014/main" id="{4B85AFF5-7788-4A33-9174-6175A971F0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53200" y="4952218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1289DB9-1C3F-4ADD-8C03-0285F0743280}"/>
              </a:ext>
            </a:extLst>
          </p:cNvPr>
          <p:cNvSpPr txBox="1"/>
          <p:nvPr/>
        </p:nvSpPr>
        <p:spPr>
          <a:xfrm>
            <a:off x="1411550" y="4474346"/>
            <a:ext cx="1047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Internet Gateway</a:t>
            </a:r>
            <a:endParaRPr lang="en-CA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8F49ED-C061-4AFB-A4E6-83335DD0F2D3}"/>
              </a:ext>
            </a:extLst>
          </p:cNvPr>
          <p:cNvSpPr txBox="1"/>
          <p:nvPr/>
        </p:nvSpPr>
        <p:spPr>
          <a:xfrm>
            <a:off x="4680570" y="4303580"/>
            <a:ext cx="1047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Switch</a:t>
            </a:r>
            <a:endParaRPr lang="en-CA" dirty="0"/>
          </a:p>
        </p:txBody>
      </p:sp>
      <p:pic>
        <p:nvPicPr>
          <p:cNvPr id="18" name="Graphic 17" descr="Email">
            <a:extLst>
              <a:ext uri="{FF2B5EF4-FFF2-40B4-BE49-F238E27FC236}">
                <a16:creationId xmlns:a16="http://schemas.microsoft.com/office/drawing/2014/main" id="{BD75199A-E0AD-4F84-8C25-D30EF4EAC20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56193" y="2617391"/>
            <a:ext cx="592358" cy="59235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CAA1881-80F9-4C57-934F-8488340D76F6}"/>
              </a:ext>
            </a:extLst>
          </p:cNvPr>
          <p:cNvSpPr txBox="1"/>
          <p:nvPr/>
        </p:nvSpPr>
        <p:spPr>
          <a:xfrm>
            <a:off x="5149923" y="1971060"/>
            <a:ext cx="15717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Malicious file downloaded</a:t>
            </a:r>
            <a:endParaRPr lang="en-CA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A7C4FF5-7A77-45D2-ABA0-C9BDA2976302}"/>
              </a:ext>
            </a:extLst>
          </p:cNvPr>
          <p:cNvSpPr/>
          <p:nvPr/>
        </p:nvSpPr>
        <p:spPr>
          <a:xfrm>
            <a:off x="1306103" y="2625317"/>
            <a:ext cx="1597256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Intrusion Detection System </a:t>
            </a:r>
            <a:endParaRPr lang="en-CA" dirty="0"/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628B57E5-A849-4E55-B73F-3DAA3AA4C0CB}"/>
              </a:ext>
            </a:extLst>
          </p:cNvPr>
          <p:cNvCxnSpPr>
            <a:cxnSpLocks/>
          </p:cNvCxnSpPr>
          <p:nvPr/>
        </p:nvCxnSpPr>
        <p:spPr>
          <a:xfrm flipV="1">
            <a:off x="838200" y="2617391"/>
            <a:ext cx="6157404" cy="8630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710F203-7338-48C7-B6AD-E9C68782E0F0}"/>
              </a:ext>
            </a:extLst>
          </p:cNvPr>
          <p:cNvCxnSpPr>
            <a:stCxn id="9" idx="3"/>
            <a:endCxn id="11" idx="2"/>
          </p:cNvCxnSpPr>
          <p:nvPr/>
        </p:nvCxnSpPr>
        <p:spPr>
          <a:xfrm flipV="1">
            <a:off x="5661553" y="3074591"/>
            <a:ext cx="1648847" cy="8116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E0F06E0-8BE3-480D-815A-418E5A0605DD}"/>
              </a:ext>
            </a:extLst>
          </p:cNvPr>
          <p:cNvCxnSpPr>
            <a:stCxn id="9" idx="3"/>
            <a:endCxn id="13" idx="1"/>
          </p:cNvCxnSpPr>
          <p:nvPr/>
        </p:nvCxnSpPr>
        <p:spPr>
          <a:xfrm flipV="1">
            <a:off x="5661553" y="3870794"/>
            <a:ext cx="1843794" cy="154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07A7900-2E75-49CD-8E1A-90A13B5CE770}"/>
              </a:ext>
            </a:extLst>
          </p:cNvPr>
          <p:cNvCxnSpPr>
            <a:stCxn id="9" idx="3"/>
            <a:endCxn id="14" idx="0"/>
          </p:cNvCxnSpPr>
          <p:nvPr/>
        </p:nvCxnSpPr>
        <p:spPr>
          <a:xfrm>
            <a:off x="5661553" y="3886200"/>
            <a:ext cx="1648847" cy="10660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E64B2D0-3660-43F7-8708-C7C3D1601121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2491665" y="3886200"/>
            <a:ext cx="225548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20735D2-F026-4D18-B7FD-0B71F684DDF7}"/>
              </a:ext>
            </a:extLst>
          </p:cNvPr>
          <p:cNvSpPr txBox="1"/>
          <p:nvPr/>
        </p:nvSpPr>
        <p:spPr>
          <a:xfrm>
            <a:off x="8196549" y="1046478"/>
            <a:ext cx="3789803" cy="39703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to decide if file is malicious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Active area in adversarial machine learning, generate new malware to enhance classifier robustness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Challenges: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Generated malware must be a valid file, harder criteria compared to images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Access to downloaded files, business decision 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Ex: </a:t>
            </a:r>
            <a:r>
              <a:rPr lang="en-US" b="1" i="1" dirty="0"/>
              <a:t>Adversarial Perturbations Against Deep Neural Networks for Malware Classification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Ex: </a:t>
            </a:r>
            <a:r>
              <a:rPr lang="en-CA" b="1" i="1" dirty="0"/>
              <a:t>Cylance, I Kill You!</a:t>
            </a:r>
          </a:p>
        </p:txBody>
      </p:sp>
    </p:spTree>
    <p:extLst>
      <p:ext uri="{BB962C8B-B14F-4D97-AF65-F5344CB8AC3E}">
        <p14:creationId xmlns:p14="http://schemas.microsoft.com/office/powerpoint/2010/main" val="24957921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9D12C-E5D4-4A0B-9987-79308F493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System Setup</a:t>
            </a:r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79628B-F7A1-4B65-BA97-416CBD3DB0C4}"/>
              </a:ext>
            </a:extLst>
          </p:cNvPr>
          <p:cNvSpPr/>
          <p:nvPr/>
        </p:nvSpPr>
        <p:spPr>
          <a:xfrm>
            <a:off x="9967865" y="1955549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411B43-88C5-4E23-8A7F-3A3960A868D8}"/>
              </a:ext>
            </a:extLst>
          </p:cNvPr>
          <p:cNvSpPr/>
          <p:nvPr/>
        </p:nvSpPr>
        <p:spPr>
          <a:xfrm>
            <a:off x="9785286" y="1887648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D9E1B6-68FF-41AD-A806-3618EB708708}"/>
              </a:ext>
            </a:extLst>
          </p:cNvPr>
          <p:cNvSpPr/>
          <p:nvPr/>
        </p:nvSpPr>
        <p:spPr>
          <a:xfrm>
            <a:off x="9602707" y="1955549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8ECB01-7172-4099-AA6C-6FF0F6248256}"/>
              </a:ext>
            </a:extLst>
          </p:cNvPr>
          <p:cNvSpPr/>
          <p:nvPr/>
        </p:nvSpPr>
        <p:spPr>
          <a:xfrm>
            <a:off x="7521920" y="1955549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019A70-4450-4A1E-95C1-6CCAD9CD13A8}"/>
              </a:ext>
            </a:extLst>
          </p:cNvPr>
          <p:cNvSpPr/>
          <p:nvPr/>
        </p:nvSpPr>
        <p:spPr>
          <a:xfrm>
            <a:off x="7339341" y="1887648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E83AD2-C6C6-4841-AAFC-BC32A094B50C}"/>
              </a:ext>
            </a:extLst>
          </p:cNvPr>
          <p:cNvSpPr/>
          <p:nvPr/>
        </p:nvSpPr>
        <p:spPr>
          <a:xfrm>
            <a:off x="7156762" y="1955549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B86B87-7C8E-4567-A6D2-61F5FD5BD14E}"/>
              </a:ext>
            </a:extLst>
          </p:cNvPr>
          <p:cNvSpPr/>
          <p:nvPr/>
        </p:nvSpPr>
        <p:spPr>
          <a:xfrm>
            <a:off x="4389421" y="1955549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1EC178-A4B0-426D-BA7A-7FD9BCE11A7C}"/>
              </a:ext>
            </a:extLst>
          </p:cNvPr>
          <p:cNvSpPr/>
          <p:nvPr/>
        </p:nvSpPr>
        <p:spPr>
          <a:xfrm>
            <a:off x="4206842" y="1887648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E2BB98-807D-455A-8790-1A05BA15F83B}"/>
              </a:ext>
            </a:extLst>
          </p:cNvPr>
          <p:cNvSpPr/>
          <p:nvPr/>
        </p:nvSpPr>
        <p:spPr>
          <a:xfrm>
            <a:off x="4024263" y="1955549"/>
            <a:ext cx="126749" cy="1358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A4710E-9340-4F7E-B743-A25494B0725D}"/>
              </a:ext>
            </a:extLst>
          </p:cNvPr>
          <p:cNvSpPr/>
          <p:nvPr/>
        </p:nvSpPr>
        <p:spPr>
          <a:xfrm>
            <a:off x="9729456" y="2390115"/>
            <a:ext cx="238409" cy="2172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39542E-DF7E-43E4-B3D3-6B35A5BC1BFE}"/>
              </a:ext>
            </a:extLst>
          </p:cNvPr>
          <p:cNvSpPr/>
          <p:nvPr/>
        </p:nvSpPr>
        <p:spPr>
          <a:xfrm>
            <a:off x="7283511" y="2393290"/>
            <a:ext cx="238409" cy="2172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27F8E4-D5F3-4F24-9F9B-28F8A9EA321D}"/>
              </a:ext>
            </a:extLst>
          </p:cNvPr>
          <p:cNvSpPr/>
          <p:nvPr/>
        </p:nvSpPr>
        <p:spPr>
          <a:xfrm>
            <a:off x="4151012" y="2390115"/>
            <a:ext cx="238409" cy="2172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94A53A-02BB-42A3-B928-CF502824A85D}"/>
              </a:ext>
            </a:extLst>
          </p:cNvPr>
          <p:cNvSpPr/>
          <p:nvPr/>
        </p:nvSpPr>
        <p:spPr>
          <a:xfrm>
            <a:off x="8095683" y="2995298"/>
            <a:ext cx="921568" cy="47078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7CEC96-BB07-4013-9E96-33571FE6751E}"/>
              </a:ext>
            </a:extLst>
          </p:cNvPr>
          <p:cNvSpPr/>
          <p:nvPr/>
        </p:nvSpPr>
        <p:spPr>
          <a:xfrm>
            <a:off x="3109484" y="2995298"/>
            <a:ext cx="921568" cy="47078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Agg</a:t>
            </a:r>
            <a:endParaRPr lang="en-C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EC410A4-4086-47BA-9493-1A183F6846DA}"/>
              </a:ext>
            </a:extLst>
          </p:cNvPr>
          <p:cNvSpPr/>
          <p:nvPr/>
        </p:nvSpPr>
        <p:spPr>
          <a:xfrm>
            <a:off x="6152582" y="4095341"/>
            <a:ext cx="2008360" cy="57942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Core Router</a:t>
            </a:r>
            <a:endParaRPr lang="en-CA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913475-B39D-418C-9037-6DFA4B720446}"/>
              </a:ext>
            </a:extLst>
          </p:cNvPr>
          <p:cNvSpPr/>
          <p:nvPr/>
        </p:nvSpPr>
        <p:spPr>
          <a:xfrm>
            <a:off x="3511990" y="4095341"/>
            <a:ext cx="2008360" cy="57942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Core Router</a:t>
            </a:r>
            <a:endParaRPr lang="en-CA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13925E-3E89-409A-A67D-192ACB381138}"/>
              </a:ext>
            </a:extLst>
          </p:cNvPr>
          <p:cNvSpPr/>
          <p:nvPr/>
        </p:nvSpPr>
        <p:spPr>
          <a:xfrm>
            <a:off x="4978086" y="6001946"/>
            <a:ext cx="2008360" cy="57942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069BD72-9F83-4243-8568-5BEF750C481E}"/>
              </a:ext>
            </a:extLst>
          </p:cNvPr>
          <p:cNvSpPr/>
          <p:nvPr/>
        </p:nvSpPr>
        <p:spPr>
          <a:xfrm>
            <a:off x="6152582" y="4892931"/>
            <a:ext cx="1457979" cy="669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Edge</a:t>
            </a:r>
            <a:endParaRPr lang="en-CA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E7272A-5600-4693-8B33-7AC1B8A828EF}"/>
              </a:ext>
            </a:extLst>
          </p:cNvPr>
          <p:cNvSpPr txBox="1"/>
          <p:nvPr/>
        </p:nvSpPr>
        <p:spPr>
          <a:xfrm>
            <a:off x="10205232" y="1564482"/>
            <a:ext cx="1063593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Home Internet</a:t>
            </a:r>
            <a:endParaRPr lang="en-CA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6D9B15-0B9A-4430-AB3B-13B7CDD1B801}"/>
              </a:ext>
            </a:extLst>
          </p:cNvPr>
          <p:cNvSpPr txBox="1"/>
          <p:nvPr/>
        </p:nvSpPr>
        <p:spPr>
          <a:xfrm>
            <a:off x="8849571" y="2314090"/>
            <a:ext cx="75313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BRAS</a:t>
            </a:r>
            <a:endParaRPr lang="en-CA" dirty="0"/>
          </a:p>
        </p:txBody>
      </p:sp>
      <p:sp>
        <p:nvSpPr>
          <p:cNvPr id="29" name="Right Brace 28">
            <a:extLst>
              <a:ext uri="{FF2B5EF4-FFF2-40B4-BE49-F238E27FC236}">
                <a16:creationId xmlns:a16="http://schemas.microsoft.com/office/drawing/2014/main" id="{1E6F0F67-3989-4DFF-9D12-8E9E9868061D}"/>
              </a:ext>
            </a:extLst>
          </p:cNvPr>
          <p:cNvSpPr/>
          <p:nvPr/>
        </p:nvSpPr>
        <p:spPr>
          <a:xfrm rot="16200000">
            <a:off x="5797600" y="4595911"/>
            <a:ext cx="369332" cy="260249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833C067-F73E-4E4D-80DA-A9BAECB73310}"/>
              </a:ext>
            </a:extLst>
          </p:cNvPr>
          <p:cNvSpPr txBox="1"/>
          <p:nvPr/>
        </p:nvSpPr>
        <p:spPr>
          <a:xfrm>
            <a:off x="3656286" y="6114833"/>
            <a:ext cx="1012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Provider B</a:t>
            </a:r>
            <a:endParaRPr lang="en-CA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C7B20EF-A109-4B98-B494-26055209F7F3}"/>
              </a:ext>
            </a:extLst>
          </p:cNvPr>
          <p:cNvCxnSpPr>
            <a:stCxn id="4" idx="2"/>
            <a:endCxn id="13" idx="0"/>
          </p:cNvCxnSpPr>
          <p:nvPr/>
        </p:nvCxnSpPr>
        <p:spPr>
          <a:xfrm flipH="1">
            <a:off x="9848661" y="2091350"/>
            <a:ext cx="182579" cy="298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BC7604A-0DB1-42FD-9B61-035289CC0FF8}"/>
              </a:ext>
            </a:extLst>
          </p:cNvPr>
          <p:cNvCxnSpPr>
            <a:endCxn id="13" idx="0"/>
          </p:cNvCxnSpPr>
          <p:nvPr/>
        </p:nvCxnSpPr>
        <p:spPr>
          <a:xfrm>
            <a:off x="9840074" y="2020783"/>
            <a:ext cx="8587" cy="3693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786CCBB-8D75-43BD-BA4D-6D4FE502E4D2}"/>
              </a:ext>
            </a:extLst>
          </p:cNvPr>
          <p:cNvCxnSpPr>
            <a:stCxn id="6" idx="2"/>
            <a:endCxn id="13" idx="0"/>
          </p:cNvCxnSpPr>
          <p:nvPr/>
        </p:nvCxnSpPr>
        <p:spPr>
          <a:xfrm>
            <a:off x="9666082" y="2091350"/>
            <a:ext cx="182579" cy="298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0165907-647C-42D6-8B4A-B20D4B823254}"/>
              </a:ext>
            </a:extLst>
          </p:cNvPr>
          <p:cNvCxnSpPr/>
          <p:nvPr/>
        </p:nvCxnSpPr>
        <p:spPr>
          <a:xfrm flipH="1">
            <a:off x="7411769" y="2098896"/>
            <a:ext cx="182579" cy="298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0F08056-91D2-4A95-B85D-66CFBA1BC1D2}"/>
              </a:ext>
            </a:extLst>
          </p:cNvPr>
          <p:cNvCxnSpPr/>
          <p:nvPr/>
        </p:nvCxnSpPr>
        <p:spPr>
          <a:xfrm>
            <a:off x="7403182" y="2028329"/>
            <a:ext cx="8587" cy="3693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71364C2-372F-4150-B7A1-F288BC9CCCF5}"/>
              </a:ext>
            </a:extLst>
          </p:cNvPr>
          <p:cNvCxnSpPr/>
          <p:nvPr/>
        </p:nvCxnSpPr>
        <p:spPr>
          <a:xfrm>
            <a:off x="7229190" y="2098896"/>
            <a:ext cx="182579" cy="298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43026B9-CCB8-4FF2-85A9-5E584281D189}"/>
              </a:ext>
            </a:extLst>
          </p:cNvPr>
          <p:cNvCxnSpPr/>
          <p:nvPr/>
        </p:nvCxnSpPr>
        <p:spPr>
          <a:xfrm flipH="1">
            <a:off x="4260969" y="2091350"/>
            <a:ext cx="182579" cy="298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CF9A6B4-1367-4829-925D-86D0BEAFDFCC}"/>
              </a:ext>
            </a:extLst>
          </p:cNvPr>
          <p:cNvCxnSpPr/>
          <p:nvPr/>
        </p:nvCxnSpPr>
        <p:spPr>
          <a:xfrm>
            <a:off x="4252382" y="2020783"/>
            <a:ext cx="8587" cy="3693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833F57A-EAEC-42EB-88C8-AD78ED108413}"/>
              </a:ext>
            </a:extLst>
          </p:cNvPr>
          <p:cNvCxnSpPr/>
          <p:nvPr/>
        </p:nvCxnSpPr>
        <p:spPr>
          <a:xfrm>
            <a:off x="4078390" y="2091350"/>
            <a:ext cx="182579" cy="298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56F54E7-99AB-4A7D-829B-6DE2D976A91A}"/>
              </a:ext>
            </a:extLst>
          </p:cNvPr>
          <p:cNvCxnSpPr>
            <a:stCxn id="13" idx="2"/>
            <a:endCxn id="16" idx="0"/>
          </p:cNvCxnSpPr>
          <p:nvPr/>
        </p:nvCxnSpPr>
        <p:spPr>
          <a:xfrm flipH="1">
            <a:off x="8556467" y="2607398"/>
            <a:ext cx="1292194" cy="3879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1287ABA-0F2F-4C68-AB5D-D2EA4692372F}"/>
              </a:ext>
            </a:extLst>
          </p:cNvPr>
          <p:cNvCxnSpPr>
            <a:stCxn id="14" idx="2"/>
            <a:endCxn id="16" idx="0"/>
          </p:cNvCxnSpPr>
          <p:nvPr/>
        </p:nvCxnSpPr>
        <p:spPr>
          <a:xfrm>
            <a:off x="7402716" y="2610573"/>
            <a:ext cx="1153751" cy="3847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8D1291E-0915-40EC-AB38-2CA009F839B7}"/>
              </a:ext>
            </a:extLst>
          </p:cNvPr>
          <p:cNvCxnSpPr>
            <a:stCxn id="15" idx="2"/>
            <a:endCxn id="17" idx="0"/>
          </p:cNvCxnSpPr>
          <p:nvPr/>
        </p:nvCxnSpPr>
        <p:spPr>
          <a:xfrm flipH="1">
            <a:off x="3570268" y="2607398"/>
            <a:ext cx="699949" cy="3879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C4082D5-A6B2-4553-8A3F-F0616F58BEC2}"/>
              </a:ext>
            </a:extLst>
          </p:cNvPr>
          <p:cNvCxnSpPr>
            <a:stCxn id="16" idx="2"/>
            <a:endCxn id="18" idx="0"/>
          </p:cNvCxnSpPr>
          <p:nvPr/>
        </p:nvCxnSpPr>
        <p:spPr>
          <a:xfrm flipH="1">
            <a:off x="7156762" y="3466079"/>
            <a:ext cx="1399705" cy="62926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5430102-1A9D-4B11-BD8A-31E39EA3186D}"/>
              </a:ext>
            </a:extLst>
          </p:cNvPr>
          <p:cNvCxnSpPr>
            <a:stCxn id="17" idx="2"/>
            <a:endCxn id="19" idx="0"/>
          </p:cNvCxnSpPr>
          <p:nvPr/>
        </p:nvCxnSpPr>
        <p:spPr>
          <a:xfrm>
            <a:off x="3570268" y="3466079"/>
            <a:ext cx="945902" cy="62926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A9C9CED7-559C-4A9B-BFB3-E7297D2D742F}"/>
              </a:ext>
            </a:extLst>
          </p:cNvPr>
          <p:cNvSpPr/>
          <p:nvPr/>
        </p:nvSpPr>
        <p:spPr>
          <a:xfrm>
            <a:off x="4401258" y="4892930"/>
            <a:ext cx="1457979" cy="669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Edge</a:t>
            </a:r>
            <a:endParaRPr lang="en-CA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9041535-EFFE-44E8-A467-AE3BA0E258BC}"/>
              </a:ext>
            </a:extLst>
          </p:cNvPr>
          <p:cNvCxnSpPr>
            <a:stCxn id="18" idx="2"/>
            <a:endCxn id="23" idx="0"/>
          </p:cNvCxnSpPr>
          <p:nvPr/>
        </p:nvCxnSpPr>
        <p:spPr>
          <a:xfrm flipH="1">
            <a:off x="6881572" y="4674763"/>
            <a:ext cx="275190" cy="21816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C4BF408-804B-44A2-B82A-04B36D9DA307}"/>
              </a:ext>
            </a:extLst>
          </p:cNvPr>
          <p:cNvCxnSpPr>
            <a:stCxn id="19" idx="2"/>
            <a:endCxn id="55" idx="0"/>
          </p:cNvCxnSpPr>
          <p:nvPr/>
        </p:nvCxnSpPr>
        <p:spPr>
          <a:xfrm>
            <a:off x="4516170" y="4674763"/>
            <a:ext cx="614078" cy="21816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50E3E0D-EC89-4DB7-ADC1-C8A49F246EFB}"/>
              </a:ext>
            </a:extLst>
          </p:cNvPr>
          <p:cNvCxnSpPr>
            <a:endCxn id="20" idx="0"/>
          </p:cNvCxnSpPr>
          <p:nvPr/>
        </p:nvCxnSpPr>
        <p:spPr>
          <a:xfrm flipH="1">
            <a:off x="5982266" y="5562887"/>
            <a:ext cx="899306" cy="43905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E38E2CD-1DFA-45EF-B585-A87A20F8012B}"/>
              </a:ext>
            </a:extLst>
          </p:cNvPr>
          <p:cNvCxnSpPr>
            <a:stCxn id="55" idx="4"/>
            <a:endCxn id="20" idx="0"/>
          </p:cNvCxnSpPr>
          <p:nvPr/>
        </p:nvCxnSpPr>
        <p:spPr>
          <a:xfrm>
            <a:off x="5130248" y="5562887"/>
            <a:ext cx="852018" cy="43905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B570CE4F-3331-48EA-B184-D73B76221DBB}"/>
              </a:ext>
            </a:extLst>
          </p:cNvPr>
          <p:cNvCxnSpPr>
            <a:stCxn id="18" idx="1"/>
            <a:endCxn id="19" idx="3"/>
          </p:cNvCxnSpPr>
          <p:nvPr/>
        </p:nvCxnSpPr>
        <p:spPr>
          <a:xfrm flipH="1">
            <a:off x="5520350" y="4385052"/>
            <a:ext cx="63223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4972BDB-AFE3-49DA-B16C-B517602EA477}"/>
              </a:ext>
            </a:extLst>
          </p:cNvPr>
          <p:cNvSpPr/>
          <p:nvPr/>
        </p:nvSpPr>
        <p:spPr>
          <a:xfrm>
            <a:off x="327297" y="2390115"/>
            <a:ext cx="2017607" cy="103133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NetFlow Collector</a:t>
            </a:r>
          </a:p>
          <a:p>
            <a:pPr algn="ctr"/>
            <a:r>
              <a:rPr lang="en-US" dirty="0"/>
              <a:t>(Anomaly Detection)</a:t>
            </a:r>
            <a:endParaRPr lang="en-CA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5A312D8-3D99-4ECC-9769-709586B3E992}"/>
              </a:ext>
            </a:extLst>
          </p:cNvPr>
          <p:cNvCxnSpPr>
            <a:stCxn id="19" idx="1"/>
            <a:endCxn id="21" idx="3"/>
          </p:cNvCxnSpPr>
          <p:nvPr/>
        </p:nvCxnSpPr>
        <p:spPr>
          <a:xfrm flipH="1" flipV="1">
            <a:off x="2344904" y="2905785"/>
            <a:ext cx="1167086" cy="1479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60DF06B-C461-4D5C-8C30-D620911D6A75}"/>
              </a:ext>
            </a:extLst>
          </p:cNvPr>
          <p:cNvCxnSpPr>
            <a:stCxn id="18" idx="1"/>
            <a:endCxn id="21" idx="3"/>
          </p:cNvCxnSpPr>
          <p:nvPr/>
        </p:nvCxnSpPr>
        <p:spPr>
          <a:xfrm flipH="1" flipV="1">
            <a:off x="2344904" y="2905785"/>
            <a:ext cx="3807678" cy="1479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A7BA5927-9F26-4D86-B9C8-D1A0EEAA4C63}"/>
              </a:ext>
            </a:extLst>
          </p:cNvPr>
          <p:cNvSpPr/>
          <p:nvPr/>
        </p:nvSpPr>
        <p:spPr>
          <a:xfrm>
            <a:off x="313765" y="3945332"/>
            <a:ext cx="2017607" cy="103133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Syslog Collector</a:t>
            </a:r>
          </a:p>
          <a:p>
            <a:pPr algn="ctr"/>
            <a:r>
              <a:rPr lang="en-US" dirty="0"/>
              <a:t>(Root-Cause Analysis)</a:t>
            </a:r>
            <a:endParaRPr lang="en-CA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9C2A362-9C5A-454F-90A4-A6823EE0B885}"/>
              </a:ext>
            </a:extLst>
          </p:cNvPr>
          <p:cNvCxnSpPr>
            <a:stCxn id="19" idx="1"/>
            <a:endCxn id="54" idx="3"/>
          </p:cNvCxnSpPr>
          <p:nvPr/>
        </p:nvCxnSpPr>
        <p:spPr>
          <a:xfrm flipH="1">
            <a:off x="2331372" y="4385052"/>
            <a:ext cx="1180618" cy="75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54AED94-3E78-406D-8EA8-043AC5F8C527}"/>
              </a:ext>
            </a:extLst>
          </p:cNvPr>
          <p:cNvCxnSpPr>
            <a:stCxn id="17" idx="1"/>
          </p:cNvCxnSpPr>
          <p:nvPr/>
        </p:nvCxnSpPr>
        <p:spPr>
          <a:xfrm flipH="1">
            <a:off x="2344904" y="3230689"/>
            <a:ext cx="764580" cy="1230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54B53FEA-FED2-4F50-92A7-447642CD1603}"/>
              </a:ext>
            </a:extLst>
          </p:cNvPr>
          <p:cNvSpPr/>
          <p:nvPr/>
        </p:nvSpPr>
        <p:spPr>
          <a:xfrm>
            <a:off x="8068238" y="2995298"/>
            <a:ext cx="921568" cy="47078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Agg</a:t>
            </a:r>
            <a:endParaRPr lang="en-CA"/>
          </a:p>
        </p:txBody>
      </p:sp>
      <p:sp>
        <p:nvSpPr>
          <p:cNvPr id="72" name="Rectangle 1">
            <a:extLst>
              <a:ext uri="{FF2B5EF4-FFF2-40B4-BE49-F238E27FC236}">
                <a16:creationId xmlns:a16="http://schemas.microsoft.com/office/drawing/2014/main" id="{0D273028-50DC-4F90-81E7-BC166ABBE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132" y="1790289"/>
            <a:ext cx="6881572" cy="55399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Date flow start                    Duration   Proto    </a:t>
            </a: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Src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IP </a:t>
            </a: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Addr:Port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       </a:t>
            </a: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Dst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IP </a:t>
            </a: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Addr:Port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    Packets   Bytes   Flows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2010-09-01 00:00:00.459    0.000         UDP      127.0.0.1:24920     -&gt;  192.168.0.1:22126      1              46        1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2010-09-01 00:00:00.363    0.000         UDP      192.168.0.1:22126 -&gt;  127.0.0.1:24920          1              80        1</a:t>
            </a: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8" name="Picture 77" descr="A close up of a street&#10;&#10;Description automatically generated">
            <a:extLst>
              <a:ext uri="{FF2B5EF4-FFF2-40B4-BE49-F238E27FC236}">
                <a16:creationId xmlns:a16="http://schemas.microsoft.com/office/drawing/2014/main" id="{A252915F-8E53-43B3-A3C7-498423AB87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848" y="2817918"/>
            <a:ext cx="9172575" cy="3781601"/>
          </a:xfrm>
          <a:prstGeom prst="rect">
            <a:avLst/>
          </a:prstGeom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D7753A27-BC63-4BE1-A2DC-0BA3FEDF3969}"/>
              </a:ext>
            </a:extLst>
          </p:cNvPr>
          <p:cNvSpPr txBox="1"/>
          <p:nvPr/>
        </p:nvSpPr>
        <p:spPr>
          <a:xfrm>
            <a:off x="692459" y="6492875"/>
            <a:ext cx="7119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https://opentodo.wordpress.com/2012/09/17/syslog-centralized-logging/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DFE628CA-19EE-486A-B954-9C6A97C74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15682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7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A974D-581F-47EB-A0C7-579FEDDE1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System Setup</a:t>
            </a:r>
            <a:endParaRPr lang="en-CA" dirty="0"/>
          </a:p>
        </p:txBody>
      </p:sp>
      <p:pic>
        <p:nvPicPr>
          <p:cNvPr id="7" name="Content Placeholder 6" descr="DVD player">
            <a:extLst>
              <a:ext uri="{FF2B5EF4-FFF2-40B4-BE49-F238E27FC236}">
                <a16:creationId xmlns:a16="http://schemas.microsoft.com/office/drawing/2014/main" id="{86A3DAC1-F1F6-4049-BF46-97196E905A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77265" y="3429000"/>
            <a:ext cx="914400" cy="914400"/>
          </a:xfrm>
        </p:spPr>
      </p:pic>
      <p:pic>
        <p:nvPicPr>
          <p:cNvPr id="9" name="Graphic 8" descr="DVD player">
            <a:extLst>
              <a:ext uri="{FF2B5EF4-FFF2-40B4-BE49-F238E27FC236}">
                <a16:creationId xmlns:a16="http://schemas.microsoft.com/office/drawing/2014/main" id="{F898AC2A-16A0-4BA0-A218-EE40FA2645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7153" y="3429000"/>
            <a:ext cx="914400" cy="914400"/>
          </a:xfrm>
          <a:prstGeom prst="rect">
            <a:avLst/>
          </a:prstGeom>
        </p:spPr>
      </p:pic>
      <p:pic>
        <p:nvPicPr>
          <p:cNvPr id="11" name="Graphic 10" descr="Laptop">
            <a:extLst>
              <a:ext uri="{FF2B5EF4-FFF2-40B4-BE49-F238E27FC236}">
                <a16:creationId xmlns:a16="http://schemas.microsoft.com/office/drawing/2014/main" id="{B554ECD3-230C-4C40-BA67-417245BBB5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53200" y="2160191"/>
            <a:ext cx="914400" cy="914400"/>
          </a:xfrm>
          <a:prstGeom prst="rect">
            <a:avLst/>
          </a:prstGeom>
        </p:spPr>
      </p:pic>
      <p:pic>
        <p:nvPicPr>
          <p:cNvPr id="13" name="Graphic 12" descr="Laptop">
            <a:extLst>
              <a:ext uri="{FF2B5EF4-FFF2-40B4-BE49-F238E27FC236}">
                <a16:creationId xmlns:a16="http://schemas.microsoft.com/office/drawing/2014/main" id="{657675BB-E02B-43DB-8096-20F5C172238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05347" y="3413594"/>
            <a:ext cx="914400" cy="914400"/>
          </a:xfrm>
          <a:prstGeom prst="rect">
            <a:avLst/>
          </a:prstGeom>
        </p:spPr>
      </p:pic>
      <p:pic>
        <p:nvPicPr>
          <p:cNvPr id="14" name="Graphic 13" descr="Laptop">
            <a:extLst>
              <a:ext uri="{FF2B5EF4-FFF2-40B4-BE49-F238E27FC236}">
                <a16:creationId xmlns:a16="http://schemas.microsoft.com/office/drawing/2014/main" id="{4B85AFF5-7788-4A33-9174-6175A971F0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53200" y="4952218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1289DB9-1C3F-4ADD-8C03-0285F0743280}"/>
              </a:ext>
            </a:extLst>
          </p:cNvPr>
          <p:cNvSpPr txBox="1"/>
          <p:nvPr/>
        </p:nvSpPr>
        <p:spPr>
          <a:xfrm>
            <a:off x="1411550" y="4474346"/>
            <a:ext cx="1047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Internet Gateway</a:t>
            </a:r>
            <a:endParaRPr lang="en-CA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8F49ED-C061-4AFB-A4E6-83335DD0F2D3}"/>
              </a:ext>
            </a:extLst>
          </p:cNvPr>
          <p:cNvSpPr txBox="1"/>
          <p:nvPr/>
        </p:nvSpPr>
        <p:spPr>
          <a:xfrm>
            <a:off x="4680570" y="4303580"/>
            <a:ext cx="1047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Switch</a:t>
            </a:r>
            <a:endParaRPr lang="en-CA" dirty="0"/>
          </a:p>
        </p:txBody>
      </p:sp>
      <p:pic>
        <p:nvPicPr>
          <p:cNvPr id="18" name="Graphic 17" descr="Email">
            <a:extLst>
              <a:ext uri="{FF2B5EF4-FFF2-40B4-BE49-F238E27FC236}">
                <a16:creationId xmlns:a16="http://schemas.microsoft.com/office/drawing/2014/main" id="{BD75199A-E0AD-4F84-8C25-D30EF4EAC20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56193" y="2617391"/>
            <a:ext cx="592358" cy="592358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9A7C4FF5-7A77-45D2-ABA0-C9BDA2976302}"/>
              </a:ext>
            </a:extLst>
          </p:cNvPr>
          <p:cNvSpPr/>
          <p:nvPr/>
        </p:nvSpPr>
        <p:spPr>
          <a:xfrm>
            <a:off x="363240" y="2625317"/>
            <a:ext cx="2540119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Intrusion Detection System </a:t>
            </a:r>
          </a:p>
          <a:p>
            <a:pPr algn="ctr"/>
            <a:r>
              <a:rPr lang="en-US" b="1" u="sng" dirty="0">
                <a:solidFill>
                  <a:schemeClr val="accent2">
                    <a:lumMod val="75000"/>
                  </a:schemeClr>
                </a:solidFill>
              </a:rPr>
              <a:t>Suricata</a:t>
            </a:r>
            <a:endParaRPr lang="en-CA" b="1" u="sng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710F203-7338-48C7-B6AD-E9C68782E0F0}"/>
              </a:ext>
            </a:extLst>
          </p:cNvPr>
          <p:cNvCxnSpPr>
            <a:stCxn id="9" idx="3"/>
            <a:endCxn id="11" idx="2"/>
          </p:cNvCxnSpPr>
          <p:nvPr/>
        </p:nvCxnSpPr>
        <p:spPr>
          <a:xfrm flipV="1">
            <a:off x="5661553" y="3074591"/>
            <a:ext cx="1648847" cy="8116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E0F06E0-8BE3-480D-815A-418E5A0605DD}"/>
              </a:ext>
            </a:extLst>
          </p:cNvPr>
          <p:cNvCxnSpPr>
            <a:stCxn id="9" idx="3"/>
            <a:endCxn id="13" idx="1"/>
          </p:cNvCxnSpPr>
          <p:nvPr/>
        </p:nvCxnSpPr>
        <p:spPr>
          <a:xfrm flipV="1">
            <a:off x="5661553" y="3870794"/>
            <a:ext cx="1843794" cy="154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07A7900-2E75-49CD-8E1A-90A13B5CE770}"/>
              </a:ext>
            </a:extLst>
          </p:cNvPr>
          <p:cNvCxnSpPr>
            <a:stCxn id="9" idx="3"/>
            <a:endCxn id="14" idx="0"/>
          </p:cNvCxnSpPr>
          <p:nvPr/>
        </p:nvCxnSpPr>
        <p:spPr>
          <a:xfrm>
            <a:off x="5661553" y="3886200"/>
            <a:ext cx="1648847" cy="10660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E7FF680-AE53-4534-8F62-C3B63A2874DE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2491665" y="3886200"/>
            <a:ext cx="225548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DD7FE39-53E5-4159-8B38-477C47F099FA}"/>
              </a:ext>
            </a:extLst>
          </p:cNvPr>
          <p:cNvSpPr txBox="1"/>
          <p:nvPr/>
        </p:nvSpPr>
        <p:spPr>
          <a:xfrm>
            <a:off x="367889" y="1706452"/>
            <a:ext cx="2749260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Deep Packet Inspection + Network Logs</a:t>
            </a:r>
          </a:p>
          <a:p>
            <a:r>
              <a:rPr lang="en-US" b="1" u="sng" dirty="0" err="1">
                <a:solidFill>
                  <a:schemeClr val="accent2">
                    <a:lumMod val="75000"/>
                  </a:schemeClr>
                </a:solidFill>
              </a:rPr>
              <a:t>Zeek</a:t>
            </a:r>
            <a:endParaRPr lang="en-CA" b="1" u="sng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84A4B02-2303-4DAB-BE29-351B3B10EE91}"/>
              </a:ext>
            </a:extLst>
          </p:cNvPr>
          <p:cNvCxnSpPr>
            <a:cxnSpLocks/>
            <a:stCxn id="11" idx="1"/>
            <a:endCxn id="63" idx="3"/>
          </p:cNvCxnSpPr>
          <p:nvPr/>
        </p:nvCxnSpPr>
        <p:spPr>
          <a:xfrm flipH="1" flipV="1">
            <a:off x="6740165" y="1632511"/>
            <a:ext cx="113035" cy="9848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2E85909-FBA2-4ED7-AE25-3074BBB9EE3F}"/>
              </a:ext>
            </a:extLst>
          </p:cNvPr>
          <p:cNvCxnSpPr>
            <a:cxnSpLocks/>
            <a:stCxn id="11" idx="1"/>
            <a:endCxn id="32" idx="3"/>
          </p:cNvCxnSpPr>
          <p:nvPr/>
        </p:nvCxnSpPr>
        <p:spPr>
          <a:xfrm flipH="1" flipV="1">
            <a:off x="5578049" y="2457575"/>
            <a:ext cx="1275151" cy="159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BE5BA24-7D3B-4E6E-9CF3-091CE97C0AF6}"/>
              </a:ext>
            </a:extLst>
          </p:cNvPr>
          <p:cNvSpPr txBox="1"/>
          <p:nvPr/>
        </p:nvSpPr>
        <p:spPr>
          <a:xfrm>
            <a:off x="3845699" y="1448582"/>
            <a:ext cx="204557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Anomaly Detection</a:t>
            </a:r>
            <a:endParaRPr lang="en-CA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6D4FE4C-A65D-4A91-8D0F-E04B25250238}"/>
              </a:ext>
            </a:extLst>
          </p:cNvPr>
          <p:cNvCxnSpPr>
            <a:cxnSpLocks/>
            <a:stCxn id="5" idx="3"/>
            <a:endCxn id="23" idx="1"/>
          </p:cNvCxnSpPr>
          <p:nvPr/>
        </p:nvCxnSpPr>
        <p:spPr>
          <a:xfrm flipV="1">
            <a:off x="3117149" y="1633248"/>
            <a:ext cx="728550" cy="534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99B1F6B-2B45-4292-8212-3FBEA8287036}"/>
              </a:ext>
            </a:extLst>
          </p:cNvPr>
          <p:cNvSpPr txBox="1"/>
          <p:nvPr/>
        </p:nvSpPr>
        <p:spPr>
          <a:xfrm>
            <a:off x="4158927" y="2134409"/>
            <a:ext cx="1419122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Incident Detection</a:t>
            </a:r>
            <a:endParaRPr lang="en-CA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59FA122-0CD5-45C2-A1D0-1E4F5B0350F1}"/>
              </a:ext>
            </a:extLst>
          </p:cNvPr>
          <p:cNvCxnSpPr>
            <a:cxnSpLocks/>
            <a:stCxn id="20" idx="3"/>
            <a:endCxn id="32" idx="1"/>
          </p:cNvCxnSpPr>
          <p:nvPr/>
        </p:nvCxnSpPr>
        <p:spPr>
          <a:xfrm flipV="1">
            <a:off x="2903359" y="2457575"/>
            <a:ext cx="1255568" cy="624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04F6B32-3187-44A2-BE74-FA67125C6441}"/>
              </a:ext>
            </a:extLst>
          </p:cNvPr>
          <p:cNvCxnSpPr>
            <a:stCxn id="23" idx="2"/>
            <a:endCxn id="32" idx="0"/>
          </p:cNvCxnSpPr>
          <p:nvPr/>
        </p:nvCxnSpPr>
        <p:spPr>
          <a:xfrm flipH="1">
            <a:off x="4868488" y="1817914"/>
            <a:ext cx="1" cy="316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81C54B6B-E0B7-4F26-94F5-8576CBF60C25}"/>
              </a:ext>
            </a:extLst>
          </p:cNvPr>
          <p:cNvSpPr/>
          <p:nvPr/>
        </p:nvSpPr>
        <p:spPr>
          <a:xfrm>
            <a:off x="5891278" y="1447845"/>
            <a:ext cx="84888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Explain</a:t>
            </a:r>
            <a:endParaRPr lang="en-CA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6E548B6-06C9-4767-B993-0FB6F4029598}"/>
              </a:ext>
            </a:extLst>
          </p:cNvPr>
          <p:cNvSpPr txBox="1"/>
          <p:nvPr/>
        </p:nvSpPr>
        <p:spPr>
          <a:xfrm>
            <a:off x="7329076" y="2870054"/>
            <a:ext cx="117593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accent2">
                    <a:lumMod val="75000"/>
                  </a:schemeClr>
                </a:solidFill>
              </a:rPr>
              <a:t>Sysmon</a:t>
            </a:r>
            <a:r>
              <a:rPr lang="en-US" dirty="0"/>
              <a:t> logs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566050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C935F-8A76-4C8B-A45A-50C3F8DF1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Domain Challenges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F0793-F88C-44B5-B7D3-8AC06E9317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Very Scarce labels !, </a:t>
            </a:r>
          </a:p>
          <a:p>
            <a:pPr lvl="1"/>
            <a:r>
              <a:rPr lang="en-US" dirty="0"/>
              <a:t>what should be labelled (e.g. TCP handshake packet)</a:t>
            </a:r>
          </a:p>
          <a:p>
            <a:r>
              <a:rPr lang="en-US" i="1" dirty="0"/>
              <a:t>Causality ?</a:t>
            </a:r>
            <a:r>
              <a:rPr lang="en-US" dirty="0"/>
              <a:t>, very hard problem</a:t>
            </a:r>
          </a:p>
          <a:p>
            <a:r>
              <a:rPr lang="en-US" i="1" dirty="0"/>
              <a:t>Sensitive Data, </a:t>
            </a:r>
            <a:r>
              <a:rPr lang="en-US" dirty="0"/>
              <a:t>can’t go outside</a:t>
            </a:r>
          </a:p>
          <a:p>
            <a:r>
              <a:rPr lang="en-US" i="1" dirty="0"/>
              <a:t>Intelligent human adversary, </a:t>
            </a:r>
            <a:r>
              <a:rPr lang="en-US" dirty="0"/>
              <a:t>threats becoming more sophisticated</a:t>
            </a:r>
            <a:endParaRPr lang="en-US" i="1" dirty="0"/>
          </a:p>
          <a:p>
            <a:r>
              <a:rPr lang="en-US" i="1" dirty="0"/>
              <a:t>Huge amount of data</a:t>
            </a:r>
          </a:p>
          <a:p>
            <a:pPr lvl="1"/>
            <a:r>
              <a:rPr lang="en-US" dirty="0"/>
              <a:t>Scalability</a:t>
            </a:r>
          </a:p>
          <a:p>
            <a:pPr lvl="1"/>
            <a:r>
              <a:rPr lang="en-US" dirty="0"/>
              <a:t>Even a small false-positive is not acceptable (1% of 100 GB = 1 GB per day)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493580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6F421-B0DB-4470-B30A-0F09EE7C7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  <a:endParaRPr lang="en-CA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3F91246-F4B6-4987-85DF-43FB7CAE23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116446"/>
              </p:ext>
            </p:extLst>
          </p:nvPr>
        </p:nvGraphicFramePr>
        <p:xfrm>
          <a:off x="2166150" y="1825624"/>
          <a:ext cx="9187649" cy="43532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497D65F5-CCD5-4532-9575-2CD26C433638}"/>
              </a:ext>
            </a:extLst>
          </p:cNvPr>
          <p:cNvSpPr/>
          <p:nvPr/>
        </p:nvSpPr>
        <p:spPr>
          <a:xfrm>
            <a:off x="212324" y="3432589"/>
            <a:ext cx="1251751" cy="8345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 Feeds</a:t>
            </a:r>
            <a:endParaRPr lang="en-CA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945F69-BE5C-4492-AD28-CB5B1E7F7D27}"/>
              </a:ext>
            </a:extLst>
          </p:cNvPr>
          <p:cNvSpPr/>
          <p:nvPr/>
        </p:nvSpPr>
        <p:spPr>
          <a:xfrm>
            <a:off x="275948" y="3505090"/>
            <a:ext cx="1251751" cy="8345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 Feeds</a:t>
            </a:r>
            <a:endParaRPr lang="en-CA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D3EB14-0D4D-4D6D-86B3-80940261718F}"/>
              </a:ext>
            </a:extLst>
          </p:cNvPr>
          <p:cNvSpPr/>
          <p:nvPr/>
        </p:nvSpPr>
        <p:spPr>
          <a:xfrm>
            <a:off x="364724" y="3584989"/>
            <a:ext cx="1251751" cy="8345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 Feeds</a:t>
            </a:r>
            <a:endParaRPr lang="en-CA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A6D596F-5479-4F04-9016-79EA778C26A5}"/>
              </a:ext>
            </a:extLst>
          </p:cNvPr>
          <p:cNvCxnSpPr>
            <a:stCxn id="7" idx="3"/>
            <a:endCxn id="4" idx="1"/>
          </p:cNvCxnSpPr>
          <p:nvPr/>
        </p:nvCxnSpPr>
        <p:spPr>
          <a:xfrm>
            <a:off x="1616475" y="4002240"/>
            <a:ext cx="5496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74E0BF8-1D1C-4A8F-BAA6-D4C039D9B9D4}"/>
              </a:ext>
            </a:extLst>
          </p:cNvPr>
          <p:cNvSpPr txBox="1"/>
          <p:nvPr/>
        </p:nvSpPr>
        <p:spPr>
          <a:xfrm>
            <a:off x="2725445" y="4864963"/>
            <a:ext cx="11984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Periodicity Detection</a:t>
            </a:r>
            <a:endParaRPr lang="en-C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02152D-F936-4484-AD41-5198FE94A47A}"/>
              </a:ext>
            </a:extLst>
          </p:cNvPr>
          <p:cNvSpPr txBox="1"/>
          <p:nvPr/>
        </p:nvSpPr>
        <p:spPr>
          <a:xfrm>
            <a:off x="6096000" y="4864963"/>
            <a:ext cx="11984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Factor Graphs</a:t>
            </a:r>
            <a:endParaRPr lang="en-C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51A437-556A-4D83-8B69-BDB4571447D2}"/>
              </a:ext>
            </a:extLst>
          </p:cNvPr>
          <p:cNvSpPr txBox="1"/>
          <p:nvPr/>
        </p:nvSpPr>
        <p:spPr>
          <a:xfrm>
            <a:off x="9466555" y="4864963"/>
            <a:ext cx="1198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IP2Vec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500223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9609F-2543-476C-B3EA-2CE43D7FB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Anomaly Detection ?!</a:t>
            </a:r>
            <a:endParaRPr lang="en-CA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A72FF07-FC24-4CE0-95B7-A7996A8BFD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0042075"/>
              </p:ext>
            </p:extLst>
          </p:nvPr>
        </p:nvGraphicFramePr>
        <p:xfrm>
          <a:off x="264404" y="1825625"/>
          <a:ext cx="1156771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1928">
                  <a:extLst>
                    <a:ext uri="{9D8B030D-6E8A-4147-A177-3AD203B41FA5}">
                      <a16:colId xmlns:a16="http://schemas.microsoft.com/office/drawing/2014/main" val="597189609"/>
                    </a:ext>
                  </a:extLst>
                </a:gridCol>
                <a:gridCol w="2891928">
                  <a:extLst>
                    <a:ext uri="{9D8B030D-6E8A-4147-A177-3AD203B41FA5}">
                      <a16:colId xmlns:a16="http://schemas.microsoft.com/office/drawing/2014/main" val="646483809"/>
                    </a:ext>
                  </a:extLst>
                </a:gridCol>
                <a:gridCol w="2891928">
                  <a:extLst>
                    <a:ext uri="{9D8B030D-6E8A-4147-A177-3AD203B41FA5}">
                      <a16:colId xmlns:a16="http://schemas.microsoft.com/office/drawing/2014/main" val="1280415960"/>
                    </a:ext>
                  </a:extLst>
                </a:gridCol>
                <a:gridCol w="2891928">
                  <a:extLst>
                    <a:ext uri="{9D8B030D-6E8A-4147-A177-3AD203B41FA5}">
                      <a16:colId xmlns:a16="http://schemas.microsoft.com/office/drawing/2014/main" val="32848281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Spatial Correlation</a:t>
                      </a:r>
                      <a:endParaRPr lang="en-C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Feature Correlation</a:t>
                      </a:r>
                      <a:endParaRPr lang="en-C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Temporal Correlation (Ops)</a:t>
                      </a:r>
                      <a:endParaRPr lang="en-C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Temporal Correlation+</a:t>
                      </a:r>
                      <a:endParaRPr lang="en-CA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970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BRAS(s) should follow the same traffic pattern.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Users, within a subnet, should follow same traffic pattern.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i="1" dirty="0"/>
                        <a:t>Techniques: PCA, R-PCA, Auto-encoders</a:t>
                      </a:r>
                      <a:endParaRPr lang="en-CA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Uplink-downlink traffic is correlated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Flow count, bytes, packets, ports, IPs correlated 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Large number of ports for small number of Ips -&gt; scanning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Large number of small-sized packets -&gt; Brute-force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i="1" dirty="0"/>
                        <a:t>Techniques: Isolation Forest, OC-SVM</a:t>
                      </a:r>
                      <a:endParaRPr lang="en-CA" i="1" dirty="0"/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Traffic in successive time-instants should be similar.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i="1" dirty="0"/>
                        <a:t>Techniques: </a:t>
                      </a:r>
                      <a:r>
                        <a:rPr lang="en-CA" i="1" dirty="0"/>
                        <a:t>Holt-Winters, ARIMA, Kalman filter, Sequence Models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Periodic Traffic is suspicious.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i="1" dirty="0"/>
                        <a:t>Techniques: Fourier transform.</a:t>
                      </a:r>
                      <a:endParaRPr lang="en-CA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1934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86526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E15A9-E1FE-4E18-B55B-E2A68D894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Anomaly Detection Steps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E3AB1-F42E-445F-A452-453460FE4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D0858C-DA12-4A57-9AA9-8D9CE3EFA330}"/>
              </a:ext>
            </a:extLst>
          </p:cNvPr>
          <p:cNvSpPr/>
          <p:nvPr/>
        </p:nvSpPr>
        <p:spPr>
          <a:xfrm>
            <a:off x="838200" y="3073706"/>
            <a:ext cx="1938051" cy="94745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Feature Extraction ?</a:t>
            </a:r>
            <a:endParaRPr lang="en-CA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D3778E-C610-486D-B1D3-13C070C27DBE}"/>
              </a:ext>
            </a:extLst>
          </p:cNvPr>
          <p:cNvSpPr/>
          <p:nvPr/>
        </p:nvSpPr>
        <p:spPr>
          <a:xfrm>
            <a:off x="3601598" y="1691090"/>
            <a:ext cx="1938051" cy="371268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Normalization</a:t>
            </a:r>
          </a:p>
          <a:p>
            <a:pPr algn="ctr"/>
            <a:r>
              <a:rPr lang="en-US" dirty="0"/>
              <a:t>Ex: PCA expects Gaussian, </a:t>
            </a:r>
          </a:p>
          <a:p>
            <a:pPr algn="ctr"/>
            <a:r>
              <a:rPr lang="en-US" dirty="0"/>
              <a:t>AE expects </a:t>
            </a:r>
            <a:r>
              <a:rPr lang="en-US" dirty="0" err="1"/>
              <a:t>i.i.d</a:t>
            </a:r>
            <a:endParaRPr lang="en-US" dirty="0"/>
          </a:p>
          <a:p>
            <a:pPr algn="ctr"/>
            <a:r>
              <a:rPr lang="en-US" dirty="0"/>
              <a:t>Depends on domain-knowledge (e.g. traffic models), and ML-knowledge (expected input distribution)</a:t>
            </a:r>
            <a:endParaRPr lang="en-CA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AC563A-125F-4AF5-97A0-6C5B3CC6BA13}"/>
              </a:ext>
            </a:extLst>
          </p:cNvPr>
          <p:cNvSpPr/>
          <p:nvPr/>
        </p:nvSpPr>
        <p:spPr>
          <a:xfrm>
            <a:off x="6508673" y="3073706"/>
            <a:ext cx="1938051" cy="94745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Anomaly Detection</a:t>
            </a:r>
            <a:endParaRPr lang="en-CA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7265D9-BFBA-448A-A7CE-9D06E0FF1C6B}"/>
              </a:ext>
            </a:extLst>
          </p:cNvPr>
          <p:cNvSpPr/>
          <p:nvPr/>
        </p:nvSpPr>
        <p:spPr>
          <a:xfrm>
            <a:off x="9415749" y="3073706"/>
            <a:ext cx="1938051" cy="94745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Anomaly Explanation</a:t>
            </a:r>
            <a:endParaRPr lang="en-CA" b="1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5F39FEF-C752-4A31-810E-3B1237618FBE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2776251" y="3547432"/>
            <a:ext cx="8253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B7F407D-CCC4-4C90-87DA-0228D677ED13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5539649" y="3547432"/>
            <a:ext cx="9690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D636293-0772-4ED0-ABF9-9500D887853F}"/>
              </a:ext>
            </a:extLst>
          </p:cNvPr>
          <p:cNvCxnSpPr>
            <a:endCxn id="7" idx="1"/>
          </p:cNvCxnSpPr>
          <p:nvPr/>
        </p:nvCxnSpPr>
        <p:spPr>
          <a:xfrm>
            <a:off x="8482988" y="3547431"/>
            <a:ext cx="93276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04338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10E74-1499-40E9-B74F-C5123A969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Periodicity Detection for C2 Traffic</a:t>
            </a:r>
            <a:endParaRPr lang="en-CA" dirty="0"/>
          </a:p>
        </p:txBody>
      </p:sp>
      <p:pic>
        <p:nvPicPr>
          <p:cNvPr id="4" name="Content Placeholder 3" descr="A drawing of a cartoon character&#10;&#10;Description automatically generated">
            <a:extLst>
              <a:ext uri="{FF2B5EF4-FFF2-40B4-BE49-F238E27FC236}">
                <a16:creationId xmlns:a16="http://schemas.microsoft.com/office/drawing/2014/main" id="{0FD0D375-BECF-4B98-B548-B70E70BA11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26056"/>
            <a:ext cx="10515600" cy="335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0664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C4F1C-D4E2-4AEA-A817-FF141B14F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C2 Detections</a:t>
            </a:r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C88215-187A-4F52-BB01-C6AD9AC19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1910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IP Blocklists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Domain Blocklists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File Hashes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Dynamic DNS registrars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Machine Learning/Analytics based approaches (Detect Periodic Traffic)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594311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8"/>
          <p:cNvSpPr txBox="1"/>
          <p:nvPr/>
        </p:nvSpPr>
        <p:spPr>
          <a:xfrm>
            <a:off x="300208" y="753648"/>
            <a:ext cx="11153341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800" b="1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Intuition - Fourier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Content Placeholder 10" descr="A close up of a logo&#10;&#10;Description automatically generated">
            <a:extLst>
              <a:ext uri="{FF2B5EF4-FFF2-40B4-BE49-F238E27FC236}">
                <a16:creationId xmlns:a16="http://schemas.microsoft.com/office/drawing/2014/main" id="{863070DD-749F-47A2-840D-F8DB1E8D77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0687"/>
            <a:ext cx="6019800" cy="4486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</p:pic>
      <p:pic>
        <p:nvPicPr>
          <p:cNvPr id="10" name="Content Placeholder 13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EA7CE9DB-8549-469B-80B3-226FA04390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99" y="1690687"/>
            <a:ext cx="6019799" cy="448627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540368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8"/>
          <p:cNvSpPr txBox="1"/>
          <p:nvPr/>
        </p:nvSpPr>
        <p:spPr>
          <a:xfrm>
            <a:off x="300208" y="753648"/>
            <a:ext cx="11153341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800" b="1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Intuition – Random Signal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9DD11DCD-9487-4BAB-B78B-E0A5C00BCA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5625"/>
            <a:ext cx="6019800" cy="4351338"/>
          </a:xfrm>
          <a:prstGeom prst="rect">
            <a:avLst/>
          </a:prstGeom>
          <a:ln w="12700">
            <a:noFill/>
            <a:miter lim="400000"/>
          </a:ln>
          <a:effectLst>
            <a:softEdge rad="112500"/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</p:pic>
      <p:pic>
        <p:nvPicPr>
          <p:cNvPr id="9" name="Content Placeholder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AC20E592-5CC3-4560-AA00-CE899ECAE0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99" y="1825625"/>
            <a:ext cx="6019799" cy="435133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0225982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A636083-0788-48F5-A4D8-93C8A0888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Computation vs Accuracy</a:t>
            </a:r>
            <a:endParaRPr lang="en-CA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DBE5BE-8225-4461-814D-5CB1EDB70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2E2BEB-E4AF-49EC-A46B-30041176B16D}"/>
              </a:ext>
            </a:extLst>
          </p:cNvPr>
          <p:cNvSpPr/>
          <p:nvPr/>
        </p:nvSpPr>
        <p:spPr>
          <a:xfrm>
            <a:off x="970384" y="2080727"/>
            <a:ext cx="2369975" cy="39935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Malware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Process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Process N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B40F83D-9BF6-4ABB-A9BC-AD9F8C5005DB}"/>
              </a:ext>
            </a:extLst>
          </p:cNvPr>
          <p:cNvSpPr/>
          <p:nvPr/>
        </p:nvSpPr>
        <p:spPr>
          <a:xfrm>
            <a:off x="7208668" y="2015231"/>
            <a:ext cx="1740023" cy="66582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C&amp;C Server</a:t>
            </a:r>
            <a:endParaRPr lang="en-CA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089C98A-6426-482D-974E-5E8336E7E446}"/>
              </a:ext>
            </a:extLst>
          </p:cNvPr>
          <p:cNvCxnSpPr>
            <a:endCxn id="8" idx="2"/>
          </p:cNvCxnSpPr>
          <p:nvPr/>
        </p:nvCxnSpPr>
        <p:spPr>
          <a:xfrm flipV="1">
            <a:off x="2219417" y="2348144"/>
            <a:ext cx="4989251" cy="108085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1CE5543E-B2A2-4FA8-AA49-F421E24A9BCB}"/>
              </a:ext>
            </a:extLst>
          </p:cNvPr>
          <p:cNvSpPr/>
          <p:nvPr/>
        </p:nvSpPr>
        <p:spPr>
          <a:xfrm>
            <a:off x="7208668" y="2870662"/>
            <a:ext cx="1740023" cy="66582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Dest</a:t>
            </a:r>
            <a:r>
              <a:rPr lang="en-US" dirty="0"/>
              <a:t> 1</a:t>
            </a:r>
            <a:endParaRPr lang="en-CA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12CA6D4-64EC-4130-A778-F142EDF21FCE}"/>
              </a:ext>
            </a:extLst>
          </p:cNvPr>
          <p:cNvSpPr/>
          <p:nvPr/>
        </p:nvSpPr>
        <p:spPr>
          <a:xfrm>
            <a:off x="7208668" y="4768789"/>
            <a:ext cx="1740023" cy="66582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Dest</a:t>
            </a:r>
            <a:r>
              <a:rPr lang="en-US" dirty="0"/>
              <a:t> N</a:t>
            </a:r>
            <a:endParaRPr lang="en-CA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2907748-0692-4CA0-A314-6236B18E5ECA}"/>
              </a:ext>
            </a:extLst>
          </p:cNvPr>
          <p:cNvCxnSpPr/>
          <p:nvPr/>
        </p:nvCxnSpPr>
        <p:spPr>
          <a:xfrm flipV="1">
            <a:off x="2219417" y="3203574"/>
            <a:ext cx="4989251" cy="49284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13791D3-D1A2-4DB4-A0E3-A7775DDEE11B}"/>
              </a:ext>
            </a:extLst>
          </p:cNvPr>
          <p:cNvCxnSpPr>
            <a:endCxn id="12" idx="2"/>
          </p:cNvCxnSpPr>
          <p:nvPr/>
        </p:nvCxnSpPr>
        <p:spPr>
          <a:xfrm>
            <a:off x="2308194" y="4768789"/>
            <a:ext cx="4900474" cy="33291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Left Brace 16">
            <a:extLst>
              <a:ext uri="{FF2B5EF4-FFF2-40B4-BE49-F238E27FC236}">
                <a16:creationId xmlns:a16="http://schemas.microsoft.com/office/drawing/2014/main" id="{B91417F6-AE49-48D0-9FEA-4377E1D11336}"/>
              </a:ext>
            </a:extLst>
          </p:cNvPr>
          <p:cNvSpPr/>
          <p:nvPr/>
        </p:nvSpPr>
        <p:spPr>
          <a:xfrm>
            <a:off x="3666478" y="2547891"/>
            <a:ext cx="390617" cy="2886723"/>
          </a:xfrm>
          <a:prstGeom prst="lef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DF548198-A8CD-4E24-A8D5-783E257B2A56}"/>
              </a:ext>
            </a:extLst>
          </p:cNvPr>
          <p:cNvSpPr/>
          <p:nvPr/>
        </p:nvSpPr>
        <p:spPr>
          <a:xfrm>
            <a:off x="6433351" y="2547891"/>
            <a:ext cx="689499" cy="2886723"/>
          </a:xfrm>
          <a:prstGeom prst="righ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C087BD-68A1-4B75-907B-87D1043DC3DD}"/>
              </a:ext>
            </a:extLst>
          </p:cNvPr>
          <p:cNvSpPr txBox="1"/>
          <p:nvPr/>
        </p:nvSpPr>
        <p:spPr>
          <a:xfrm>
            <a:off x="4133430" y="2478277"/>
            <a:ext cx="236997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Either repeat the analysis for each destination (Expensive), or do once for aggregate traffic (less accurate)</a:t>
            </a:r>
          </a:p>
          <a:p>
            <a:r>
              <a:rPr lang="en-US" dirty="0"/>
              <a:t>Two Issues: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Number of benign destinations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Traffic volume (Control traffic is in general smaller than data traffic</a:t>
            </a:r>
          </a:p>
        </p:txBody>
      </p:sp>
    </p:spTree>
    <p:extLst>
      <p:ext uri="{BB962C8B-B14F-4D97-AF65-F5344CB8AC3E}">
        <p14:creationId xmlns:p14="http://schemas.microsoft.com/office/powerpoint/2010/main" val="42755384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50393-E813-4E0A-818E-C823E3FD7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Equalization (Major traffic contribution from Malware)</a:t>
            </a:r>
            <a:endParaRPr lang="en-CA" dirty="0"/>
          </a:p>
        </p:txBody>
      </p:sp>
      <p:pic>
        <p:nvPicPr>
          <p:cNvPr id="6" name="Content Placeholder 5" descr="A close up of a device&#10;&#10;Description automatically generated">
            <a:extLst>
              <a:ext uri="{FF2B5EF4-FFF2-40B4-BE49-F238E27FC236}">
                <a16:creationId xmlns:a16="http://schemas.microsoft.com/office/drawing/2014/main" id="{14732C5E-B6F3-407E-8A08-2FAD9DA88CC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0689"/>
            <a:ext cx="6019800" cy="4486274"/>
          </a:xfrm>
        </p:spPr>
      </p:pic>
      <p:pic>
        <p:nvPicPr>
          <p:cNvPr id="8" name="Content Placeholder 7" descr="A picture containing bird&#10;&#10;Description automatically generated">
            <a:extLst>
              <a:ext uri="{FF2B5EF4-FFF2-40B4-BE49-F238E27FC236}">
                <a16:creationId xmlns:a16="http://schemas.microsoft.com/office/drawing/2014/main" id="{78842FCB-00F5-499A-99CA-C9ABB4B9AA4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99" y="1690687"/>
            <a:ext cx="6019799" cy="4486273"/>
          </a:xfrm>
        </p:spPr>
      </p:pic>
    </p:spTree>
    <p:extLst>
      <p:ext uri="{BB962C8B-B14F-4D97-AF65-F5344CB8AC3E}">
        <p14:creationId xmlns:p14="http://schemas.microsoft.com/office/powerpoint/2010/main" val="39484264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5CB61-5C9B-41D4-98C7-87FC80C1D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Equalization (Minor traffic contribution from Malware)</a:t>
            </a:r>
            <a:endParaRPr lang="en-CA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97BE8D4-399F-4DA6-8A94-37982E694E5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5625"/>
            <a:ext cx="6019800" cy="4351338"/>
          </a:xfrm>
        </p:spPr>
      </p:pic>
      <p:pic>
        <p:nvPicPr>
          <p:cNvPr id="8" name="Content Placeholder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256267AD-BB48-426D-9F53-33B8049C71B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825625"/>
            <a:ext cx="6019800" cy="4351338"/>
          </a:xfrm>
        </p:spPr>
      </p:pic>
    </p:spTree>
    <p:extLst>
      <p:ext uri="{BB962C8B-B14F-4D97-AF65-F5344CB8AC3E}">
        <p14:creationId xmlns:p14="http://schemas.microsoft.com/office/powerpoint/2010/main" val="10252677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325F8-E549-4CF5-B463-E18F47937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Equalization (Minor traffic contribution from Malware - </a:t>
            </a:r>
            <a:r>
              <a:rPr lang="en-US" b="1" i="1" dirty="0"/>
              <a:t>Equalized</a:t>
            </a:r>
            <a:r>
              <a:rPr lang="en-US" dirty="0"/>
              <a:t>)</a:t>
            </a:r>
            <a:endParaRPr lang="en-CA" dirty="0"/>
          </a:p>
        </p:txBody>
      </p:sp>
      <p:pic>
        <p:nvPicPr>
          <p:cNvPr id="12" name="Content Placeholder 11" descr="A screenshot of a cell phone&#10;&#10;Description automatically generated">
            <a:extLst>
              <a:ext uri="{FF2B5EF4-FFF2-40B4-BE49-F238E27FC236}">
                <a16:creationId xmlns:a16="http://schemas.microsoft.com/office/drawing/2014/main" id="{7794C956-A3F8-442E-AA17-405BF6B6262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0687"/>
            <a:ext cx="6019800" cy="4486275"/>
          </a:xfrm>
        </p:spPr>
      </p:pic>
      <p:pic>
        <p:nvPicPr>
          <p:cNvPr id="14" name="Content Placeholder 13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4AFE1950-A95E-4E21-9E1B-B0EB90BB9B5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690687"/>
            <a:ext cx="6019800" cy="4486275"/>
          </a:xfrm>
        </p:spPr>
      </p:pic>
    </p:spTree>
    <p:extLst>
      <p:ext uri="{BB962C8B-B14F-4D97-AF65-F5344CB8AC3E}">
        <p14:creationId xmlns:p14="http://schemas.microsoft.com/office/powerpoint/2010/main" val="37990839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8"/>
          <p:cNvSpPr txBox="1"/>
          <p:nvPr/>
        </p:nvSpPr>
        <p:spPr>
          <a:xfrm>
            <a:off x="300208" y="753648"/>
            <a:ext cx="11153341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800" b="1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How to detect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7ACE2A-E93E-4672-A02D-478DDFCA0A0E}"/>
              </a:ext>
            </a:extLst>
          </p:cNvPr>
          <p:cNvSpPr/>
          <p:nvPr/>
        </p:nvSpPr>
        <p:spPr>
          <a:xfrm>
            <a:off x="750546" y="1584645"/>
            <a:ext cx="9686497" cy="32441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Mathematically test for periodicity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Cannot set manual thresholds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Walker’s Large Sample Test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202937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8"/>
          <p:cNvSpPr txBox="1"/>
          <p:nvPr/>
        </p:nvSpPr>
        <p:spPr>
          <a:xfrm>
            <a:off x="300208" y="753648"/>
            <a:ext cx="11453827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4800" b="1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Noisy Signal (Chi-Square Fourier Amplitude)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Content Placeholder 7">
            <a:extLst>
              <a:ext uri="{FF2B5EF4-FFF2-40B4-BE49-F238E27FC236}">
                <a16:creationId xmlns:a16="http://schemas.microsoft.com/office/drawing/2014/main" id="{A665410D-E946-4E5B-9C3E-905444E67A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62969"/>
            <a:ext cx="60198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</p:pic>
      <p:pic>
        <p:nvPicPr>
          <p:cNvPr id="3" name="Picture 2" descr="A close up of a map&#10;&#10;Description automatically generated">
            <a:extLst>
              <a:ext uri="{FF2B5EF4-FFF2-40B4-BE49-F238E27FC236}">
                <a16:creationId xmlns:a16="http://schemas.microsoft.com/office/drawing/2014/main" id="{F5218ECC-7312-4C38-9B53-B70F6A2289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5311" y="1538704"/>
            <a:ext cx="6666688" cy="4476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6418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8"/>
          <p:cNvSpPr txBox="1"/>
          <p:nvPr/>
        </p:nvSpPr>
        <p:spPr>
          <a:xfrm>
            <a:off x="300208" y="753648"/>
            <a:ext cx="11153341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800" b="1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Periodic Signal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Content Placeholder 6" descr="A close up of a logo&#10;&#10;Description automatically generated">
            <a:extLst>
              <a:ext uri="{FF2B5EF4-FFF2-40B4-BE49-F238E27FC236}">
                <a16:creationId xmlns:a16="http://schemas.microsoft.com/office/drawing/2014/main" id="{8DFE7E7C-CABF-406D-8261-5B5355E5CB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0687"/>
            <a:ext cx="6019800" cy="4486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</p:pic>
      <p:pic>
        <p:nvPicPr>
          <p:cNvPr id="11" name="Content Placeholder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105E7831-FA00-4B86-88E3-29926D1ECF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690687"/>
            <a:ext cx="6019800" cy="448627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6465104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8"/>
          <p:cNvSpPr txBox="1"/>
          <p:nvPr/>
        </p:nvSpPr>
        <p:spPr>
          <a:xfrm>
            <a:off x="300208" y="753648"/>
            <a:ext cx="11153341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800" b="1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Enhancement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388728-9BA7-44DE-9835-9DDD1D131EBE}"/>
              </a:ext>
            </a:extLst>
          </p:cNvPr>
          <p:cNvSpPr/>
          <p:nvPr/>
        </p:nvSpPr>
        <p:spPr>
          <a:xfrm>
            <a:off x="750546" y="1584645"/>
            <a:ext cx="9686497" cy="2597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False Positives from signals that are not Periodic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Example – Spiky Traffic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660740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8"/>
          <p:cNvSpPr txBox="1"/>
          <p:nvPr/>
        </p:nvSpPr>
        <p:spPr>
          <a:xfrm>
            <a:off x="300208" y="753648"/>
            <a:ext cx="11153341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800" b="1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Pulse Signal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Content Placeholder 5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227EFD32-4520-4793-B84E-CB4EB83721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53249"/>
            <a:ext cx="60198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</p:pic>
      <p:pic>
        <p:nvPicPr>
          <p:cNvPr id="3" name="Picture 2" descr="A close up of a map&#10;&#10;Description automatically generated">
            <a:extLst>
              <a:ext uri="{FF2B5EF4-FFF2-40B4-BE49-F238E27FC236}">
                <a16:creationId xmlns:a16="http://schemas.microsoft.com/office/drawing/2014/main" id="{3E60D762-5565-4485-99C5-8A5215D818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7762" y="1479210"/>
            <a:ext cx="6754238" cy="4448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0697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8"/>
          <p:cNvSpPr txBox="1"/>
          <p:nvPr/>
        </p:nvSpPr>
        <p:spPr>
          <a:xfrm>
            <a:off x="300208" y="753648"/>
            <a:ext cx="11153341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800" b="1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Auto Correlation Function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388728-9BA7-44DE-9835-9DDD1D131EBE}"/>
              </a:ext>
            </a:extLst>
          </p:cNvPr>
          <p:cNvSpPr/>
          <p:nvPr/>
        </p:nvSpPr>
        <p:spPr>
          <a:xfrm>
            <a:off x="718132" y="2016195"/>
            <a:ext cx="9686497" cy="1305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Correlation of a signal with a delayed copy of itself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358877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8"/>
          <p:cNvSpPr txBox="1"/>
          <p:nvPr/>
        </p:nvSpPr>
        <p:spPr>
          <a:xfrm>
            <a:off x="300208" y="753648"/>
            <a:ext cx="11153341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800" b="1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Pulse Signal - ACF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Content Placeholder 6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D34989A8-172B-481B-8264-A334A3A452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0687"/>
            <a:ext cx="6019800" cy="4486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</p:pic>
      <p:pic>
        <p:nvPicPr>
          <p:cNvPr id="11" name="Content Placeholder 8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06402645-D466-4D2E-BC3B-96322487A4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99" y="1690687"/>
            <a:ext cx="6019799" cy="448627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99651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8"/>
          <p:cNvSpPr txBox="1"/>
          <p:nvPr/>
        </p:nvSpPr>
        <p:spPr>
          <a:xfrm>
            <a:off x="300208" y="753648"/>
            <a:ext cx="11153341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800" b="1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Periodic Signal - ACF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Content Placeholder 5" descr="A close up of a logo&#10;&#10;Description automatically generated">
            <a:extLst>
              <a:ext uri="{FF2B5EF4-FFF2-40B4-BE49-F238E27FC236}">
                <a16:creationId xmlns:a16="http://schemas.microsoft.com/office/drawing/2014/main" id="{DB19AB65-6E5B-45FD-85F8-80594945D9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0687"/>
            <a:ext cx="6019800" cy="4486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</p:pic>
      <p:pic>
        <p:nvPicPr>
          <p:cNvPr id="13" name="Content Placeholder 7" descr="A picture containing comb&#10;&#10;Description automatically generated">
            <a:extLst>
              <a:ext uri="{FF2B5EF4-FFF2-40B4-BE49-F238E27FC236}">
                <a16:creationId xmlns:a16="http://schemas.microsoft.com/office/drawing/2014/main" id="{1D01922C-1BB0-42BC-A4BE-07A7E73BD7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99" y="1690687"/>
            <a:ext cx="6019799" cy="448627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1933012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90AD2-1531-4B96-8A85-5EAAAD74E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Periodicity Detection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82A9A-7EDD-4E7A-9256-0AC1EB1ED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F6FFFD-25AF-4618-8AB4-538B61A112FA}"/>
              </a:ext>
            </a:extLst>
          </p:cNvPr>
          <p:cNvSpPr/>
          <p:nvPr/>
        </p:nvSpPr>
        <p:spPr>
          <a:xfrm>
            <a:off x="838201" y="3337089"/>
            <a:ext cx="1132002" cy="76357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FFT</a:t>
            </a:r>
            <a:endParaRPr lang="en-CA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0CCD2C-4E84-4A12-83EC-F9530AC83644}"/>
              </a:ext>
            </a:extLst>
          </p:cNvPr>
          <p:cNvSpPr/>
          <p:nvPr/>
        </p:nvSpPr>
        <p:spPr>
          <a:xfrm>
            <a:off x="2941949" y="3337088"/>
            <a:ext cx="1290686" cy="76357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Hypothesis Test</a:t>
            </a:r>
            <a:endParaRPr lang="en-CA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2B9911-2DAE-462D-AD14-C9DA9D98984D}"/>
              </a:ext>
            </a:extLst>
          </p:cNvPr>
          <p:cNvSpPr/>
          <p:nvPr/>
        </p:nvSpPr>
        <p:spPr>
          <a:xfrm>
            <a:off x="5045697" y="3120272"/>
            <a:ext cx="2184661" cy="1187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(Filter)</a:t>
            </a:r>
          </a:p>
          <a:p>
            <a:pPr algn="ctr"/>
            <a:r>
              <a:rPr lang="en-US" dirty="0"/>
              <a:t>Select maximum frequencies</a:t>
            </a:r>
          </a:p>
          <a:p>
            <a:pPr algn="ctr"/>
            <a:r>
              <a:rPr lang="en-US" dirty="0"/>
              <a:t>And check the ACF</a:t>
            </a:r>
            <a:endParaRPr lang="en-CA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B81ECC-21AA-4BCC-B861-1C88FD57145B}"/>
              </a:ext>
            </a:extLst>
          </p:cNvPr>
          <p:cNvSpPr/>
          <p:nvPr/>
        </p:nvSpPr>
        <p:spPr>
          <a:xfrm>
            <a:off x="8384357" y="3337087"/>
            <a:ext cx="2184661" cy="76357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Explain the anomaly</a:t>
            </a:r>
            <a:endParaRPr lang="en-CA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436023E-1943-43D6-A3A9-CDE0F91110C3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1970203" y="3718874"/>
            <a:ext cx="97174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D7B47F0-D9A8-4FF9-B7EE-1FD3841F6E97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4232635" y="3714161"/>
            <a:ext cx="813062" cy="4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7EC4993-8378-4771-9F38-55CB228D258E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7230358" y="3714161"/>
            <a:ext cx="1153999" cy="47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72050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D1A8F-DCE7-4DB7-AEE3-9B9C9F268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Explainability</a:t>
            </a:r>
            <a:r>
              <a:rPr lang="en-US" dirty="0"/>
              <a:t> and Future Work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1C58D-B0F7-4386-AA78-D090918B5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Explain:</a:t>
            </a:r>
          </a:p>
          <a:p>
            <a:pPr lvl="1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A: what is the period</a:t>
            </a:r>
          </a:p>
          <a:p>
            <a:pPr lvl="1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B: what is destination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C: when did it happen</a:t>
            </a:r>
          </a:p>
          <a:p>
            <a:r>
              <a:rPr lang="en-US" dirty="0"/>
              <a:t>Fourier can’t tell when a periodic behavior happened (no temporal localization)</a:t>
            </a:r>
          </a:p>
          <a:p>
            <a:r>
              <a:rPr lang="en-US" dirty="0"/>
              <a:t>Wavelet Transform !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1540276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7F39D78-C75F-4F75-A498-88B4FE281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Root-Cause and Incident Detection</a:t>
            </a:r>
            <a:endParaRPr lang="en-C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2CA914-064C-4616-9096-630E8CBDD0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18917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F7832-91BB-4BE8-933F-CC4AF0A8B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Incident Detection and Factor Graphs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36CC6-5300-4891-A834-032A15744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Incident: a group of alerts corresponding to the same underlying attack and covering different phases of the kill-chain.</a:t>
            </a:r>
            <a:endParaRPr lang="en-CA" dirty="0"/>
          </a:p>
          <a:p>
            <a:r>
              <a:rPr lang="en-US" dirty="0"/>
              <a:t>For example, a reconnaissance, followed by lateral movement followed by data </a:t>
            </a:r>
            <a:r>
              <a:rPr lang="en-US" dirty="0" err="1"/>
              <a:t>exfilteration</a:t>
            </a:r>
            <a:r>
              <a:rPr lang="en-US" dirty="0"/>
              <a:t> is a valid incident, but the opposite order is not true.</a:t>
            </a:r>
          </a:p>
          <a:p>
            <a:r>
              <a:rPr lang="en-US" dirty="0"/>
              <a:t>Another way: anomalies are like symptoms, given the symptoms identify the true cause, the attack.</a:t>
            </a:r>
          </a:p>
          <a:p>
            <a:r>
              <a:rPr lang="en-US" dirty="0"/>
              <a:t>Factor Graph: a probabilistic graphical model, successful in LDPC decoding, medical diagnosis and windows troubleshooting.</a:t>
            </a:r>
          </a:p>
        </p:txBody>
      </p:sp>
    </p:spTree>
    <p:extLst>
      <p:ext uri="{BB962C8B-B14F-4D97-AF65-F5344CB8AC3E}">
        <p14:creationId xmlns:p14="http://schemas.microsoft.com/office/powerpoint/2010/main" val="135942927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D05DA-EDE8-424E-949E-369A73847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 Graphs - Representation</a:t>
            </a:r>
            <a:endParaRPr lang="en-C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66EB8F-299A-42AD-8A44-FFAEB7DE2F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86598" y="1825625"/>
            <a:ext cx="4587763" cy="43513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BD2B30-5DD6-4F13-8C90-39C22EDA2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14" y="2576801"/>
            <a:ext cx="6498184" cy="3069027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577D22F-EB02-424A-B188-79880C79CE50}"/>
              </a:ext>
            </a:extLst>
          </p:cNvPr>
          <p:cNvCxnSpPr/>
          <p:nvPr/>
        </p:nvCxnSpPr>
        <p:spPr>
          <a:xfrm flipV="1">
            <a:off x="4329404" y="2808514"/>
            <a:ext cx="3741576" cy="2519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0FDA9BA-CE36-4A08-AF13-AB87C78A02D7}"/>
              </a:ext>
            </a:extLst>
          </p:cNvPr>
          <p:cNvSpPr txBox="1"/>
          <p:nvPr/>
        </p:nvSpPr>
        <p:spPr>
          <a:xfrm>
            <a:off x="4492101" y="2576801"/>
            <a:ext cx="1873188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 nodes</a:t>
            </a:r>
            <a:endParaRPr lang="en-CA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CF22AE8-FCD6-442C-858D-6A2B21149316}"/>
              </a:ext>
            </a:extLst>
          </p:cNvPr>
          <p:cNvCxnSpPr/>
          <p:nvPr/>
        </p:nvCxnSpPr>
        <p:spPr>
          <a:xfrm>
            <a:off x="5601810" y="4048217"/>
            <a:ext cx="2228295" cy="8078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D099924-5A1B-4292-BD75-6AA54453F756}"/>
              </a:ext>
            </a:extLst>
          </p:cNvPr>
          <p:cNvSpPr txBox="1"/>
          <p:nvPr/>
        </p:nvSpPr>
        <p:spPr>
          <a:xfrm>
            <a:off x="5770485" y="3586579"/>
            <a:ext cx="1037422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Factor Nodes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6291655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C7BB5-DED5-4D0D-892C-C9DF32C02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 Graphs – Inference (Sum-Product Message Passing)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3B88C-C32D-4612-8C6E-9BE178A71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14785AC2-6606-45CB-9EEF-F182CEA57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637" y="1825625"/>
            <a:ext cx="4587763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7120D6-B12F-4C85-8A00-451A4C15D96F}"/>
              </a:ext>
            </a:extLst>
          </p:cNvPr>
          <p:cNvSpPr txBox="1"/>
          <p:nvPr/>
        </p:nvSpPr>
        <p:spPr>
          <a:xfrm>
            <a:off x="4987864" y="1441160"/>
            <a:ext cx="305467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CA" dirty="0"/>
              <a:t>0.8, </a:t>
            </a:r>
            <a:r>
              <a:rPr lang="en-CA" dirty="0">
                <a:solidFill>
                  <a:schemeClr val="accent6"/>
                </a:solidFill>
              </a:rPr>
              <a:t>0.1,</a:t>
            </a:r>
            <a:r>
              <a:rPr lang="en-CA" dirty="0"/>
              <a:t> </a:t>
            </a:r>
            <a:r>
              <a:rPr lang="en-CA" dirty="0">
                <a:solidFill>
                  <a:schemeClr val="accent1"/>
                </a:solidFill>
              </a:rPr>
              <a:t>0.2, </a:t>
            </a:r>
            <a:r>
              <a:rPr lang="en-CA" dirty="0"/>
              <a:t>0.7, 0.3, 1.2, 0.4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E42B7CA-369C-44EC-8BE4-7B72598BABD9}"/>
              </a:ext>
            </a:extLst>
          </p:cNvPr>
          <p:cNvCxnSpPr/>
          <p:nvPr/>
        </p:nvCxnSpPr>
        <p:spPr>
          <a:xfrm>
            <a:off x="6410131" y="2183363"/>
            <a:ext cx="0" cy="6158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DD04073-34AB-42B4-9BAD-D7116AE1B89C}"/>
              </a:ext>
            </a:extLst>
          </p:cNvPr>
          <p:cNvSpPr txBox="1"/>
          <p:nvPr/>
        </p:nvSpPr>
        <p:spPr>
          <a:xfrm>
            <a:off x="6587230" y="2010291"/>
            <a:ext cx="26189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believe there is a 90% chance you are 0</a:t>
            </a:r>
            <a:endParaRPr lang="en-CA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353A59D-91B2-4385-8AF9-5D5C8DE53558}"/>
              </a:ext>
            </a:extLst>
          </p:cNvPr>
          <p:cNvCxnSpPr/>
          <p:nvPr/>
        </p:nvCxnSpPr>
        <p:spPr>
          <a:xfrm>
            <a:off x="4644954" y="2243634"/>
            <a:ext cx="0" cy="6158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ADB76FD-4A70-47A7-908A-9A14C034A273}"/>
              </a:ext>
            </a:extLst>
          </p:cNvPr>
          <p:cNvSpPr txBox="1"/>
          <p:nvPr/>
        </p:nvSpPr>
        <p:spPr>
          <a:xfrm>
            <a:off x="1902373" y="2010291"/>
            <a:ext cx="26189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believe there is a 80% chance you are 0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353441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C7BB5-DED5-4D0D-892C-C9DF32C02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 Graphs – Inference (Sum-Product Message Passing)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3B88C-C32D-4612-8C6E-9BE178A71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14785AC2-6606-45CB-9EEF-F182CEA57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637" y="1825625"/>
            <a:ext cx="4587763" cy="4351338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E42B7CA-369C-44EC-8BE4-7B72598BABD9}"/>
              </a:ext>
            </a:extLst>
          </p:cNvPr>
          <p:cNvCxnSpPr/>
          <p:nvPr/>
        </p:nvCxnSpPr>
        <p:spPr>
          <a:xfrm>
            <a:off x="6410131" y="2183363"/>
            <a:ext cx="0" cy="6158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353A59D-91B2-4385-8AF9-5D5C8DE53558}"/>
              </a:ext>
            </a:extLst>
          </p:cNvPr>
          <p:cNvCxnSpPr/>
          <p:nvPr/>
        </p:nvCxnSpPr>
        <p:spPr>
          <a:xfrm>
            <a:off x="4644954" y="2243634"/>
            <a:ext cx="0" cy="6158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1AE00A9-E9F9-4525-97F8-425E28511B87}"/>
              </a:ext>
            </a:extLst>
          </p:cNvPr>
          <p:cNvCxnSpPr/>
          <p:nvPr/>
        </p:nvCxnSpPr>
        <p:spPr>
          <a:xfrm flipH="1">
            <a:off x="5832629" y="2965142"/>
            <a:ext cx="452761" cy="5770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B4CF4C6-5859-4C19-84F9-4E3A3D7D9FB3}"/>
              </a:ext>
            </a:extLst>
          </p:cNvPr>
          <p:cNvCxnSpPr/>
          <p:nvPr/>
        </p:nvCxnSpPr>
        <p:spPr>
          <a:xfrm>
            <a:off x="4767309" y="2965142"/>
            <a:ext cx="594804" cy="6569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34EC3E9-B297-42A8-9E4C-1789F8516531}"/>
              </a:ext>
            </a:extLst>
          </p:cNvPr>
          <p:cNvSpPr txBox="1"/>
          <p:nvPr/>
        </p:nvSpPr>
        <p:spPr>
          <a:xfrm>
            <a:off x="6096000" y="3105834"/>
            <a:ext cx="26189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believe there is a 90% chance I am 0</a:t>
            </a:r>
            <a:endParaRPr lang="en-CA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FBBDEC-F8D4-4286-86C3-E4B87323E4B5}"/>
              </a:ext>
            </a:extLst>
          </p:cNvPr>
          <p:cNvSpPr txBox="1"/>
          <p:nvPr/>
        </p:nvSpPr>
        <p:spPr>
          <a:xfrm>
            <a:off x="2654124" y="3105833"/>
            <a:ext cx="26189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believe there is a 80% chance I am 0</a:t>
            </a:r>
            <a:endParaRPr lang="en-CA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6F1F78-32A3-4CED-BCD7-4A256AEC4A94}"/>
              </a:ext>
            </a:extLst>
          </p:cNvPr>
          <p:cNvSpPr txBox="1"/>
          <p:nvPr/>
        </p:nvSpPr>
        <p:spPr>
          <a:xfrm>
            <a:off x="4987864" y="1441160"/>
            <a:ext cx="305467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CA" dirty="0"/>
              <a:t>0.8, </a:t>
            </a:r>
            <a:r>
              <a:rPr lang="en-CA" dirty="0">
                <a:solidFill>
                  <a:schemeClr val="accent6"/>
                </a:solidFill>
              </a:rPr>
              <a:t>0.1,</a:t>
            </a:r>
            <a:r>
              <a:rPr lang="en-CA" dirty="0"/>
              <a:t> </a:t>
            </a:r>
            <a:r>
              <a:rPr lang="en-CA" dirty="0">
                <a:solidFill>
                  <a:schemeClr val="accent1"/>
                </a:solidFill>
              </a:rPr>
              <a:t>0.2, </a:t>
            </a:r>
            <a:r>
              <a:rPr lang="en-CA" dirty="0"/>
              <a:t>0.7, 0.3, 1.2, 0.4</a:t>
            </a:r>
          </a:p>
        </p:txBody>
      </p:sp>
    </p:spTree>
    <p:extLst>
      <p:ext uri="{BB962C8B-B14F-4D97-AF65-F5344CB8AC3E}">
        <p14:creationId xmlns:p14="http://schemas.microsoft.com/office/powerpoint/2010/main" val="312535184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C7BB5-DED5-4D0D-892C-C9DF32C02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 Graphs – Inference (Sum-Product Message Passing)</a:t>
            </a:r>
            <a:endParaRPr lang="en-CA" dirty="0"/>
          </a:p>
        </p:txBody>
      </p:sp>
      <p:graphicFrame>
        <p:nvGraphicFramePr>
          <p:cNvPr id="10" name="Table 11">
            <a:extLst>
              <a:ext uri="{FF2B5EF4-FFF2-40B4-BE49-F238E27FC236}">
                <a16:creationId xmlns:a16="http://schemas.microsoft.com/office/drawing/2014/main" id="{E1E21925-DF13-4FE2-9879-5BED4B3DD56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1" y="1825625"/>
          <a:ext cx="544719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5730">
                  <a:extLst>
                    <a:ext uri="{9D8B030D-6E8A-4147-A177-3AD203B41FA5}">
                      <a16:colId xmlns:a16="http://schemas.microsoft.com/office/drawing/2014/main" val="618452252"/>
                    </a:ext>
                  </a:extLst>
                </a:gridCol>
                <a:gridCol w="1815730">
                  <a:extLst>
                    <a:ext uri="{9D8B030D-6E8A-4147-A177-3AD203B41FA5}">
                      <a16:colId xmlns:a16="http://schemas.microsoft.com/office/drawing/2014/main" val="356077513"/>
                    </a:ext>
                  </a:extLst>
                </a:gridCol>
                <a:gridCol w="1815730">
                  <a:extLst>
                    <a:ext uri="{9D8B030D-6E8A-4147-A177-3AD203B41FA5}">
                      <a16:colId xmlns:a16="http://schemas.microsoft.com/office/drawing/2014/main" val="14668904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/>
                        <a:t>x</a:t>
                      </a:r>
                      <a:r>
                        <a:rPr lang="en-CA" baseline="-25000" dirty="0"/>
                        <a:t>0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x</a:t>
                      </a:r>
                      <a:r>
                        <a:rPr lang="en-CA" baseline="-25000" dirty="0"/>
                        <a:t>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x</a:t>
                      </a:r>
                      <a:r>
                        <a:rPr lang="en-CA" baseline="-25000" dirty="0"/>
                        <a:t>2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5895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 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655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CA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CA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8476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CA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CA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836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8458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CA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CA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477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135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816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867781"/>
                  </a:ext>
                </a:extLst>
              </a:tr>
            </a:tbl>
          </a:graphicData>
        </a:graphic>
      </p:graphicFrame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14785AC2-6606-45CB-9EEF-F182CEA57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374" y="1825625"/>
            <a:ext cx="4587763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7120D6-B12F-4C85-8A00-451A4C15D96F}"/>
              </a:ext>
            </a:extLst>
          </p:cNvPr>
          <p:cNvSpPr txBox="1"/>
          <p:nvPr/>
        </p:nvSpPr>
        <p:spPr>
          <a:xfrm>
            <a:off x="4987864" y="1441160"/>
            <a:ext cx="305467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CA" dirty="0"/>
              <a:t>0.8, 0.1, 0.2, 0.7, 0.3, 1.2, 0.4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E42B7CA-369C-44EC-8BE4-7B72598BABD9}"/>
              </a:ext>
            </a:extLst>
          </p:cNvPr>
          <p:cNvCxnSpPr/>
          <p:nvPr/>
        </p:nvCxnSpPr>
        <p:spPr>
          <a:xfrm>
            <a:off x="9632725" y="2245507"/>
            <a:ext cx="0" cy="6158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353A59D-91B2-4385-8AF9-5D5C8DE53558}"/>
              </a:ext>
            </a:extLst>
          </p:cNvPr>
          <p:cNvCxnSpPr/>
          <p:nvPr/>
        </p:nvCxnSpPr>
        <p:spPr>
          <a:xfrm>
            <a:off x="7867548" y="2305778"/>
            <a:ext cx="0" cy="6158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1AE00A9-E9F9-4525-97F8-425E28511B87}"/>
              </a:ext>
            </a:extLst>
          </p:cNvPr>
          <p:cNvCxnSpPr/>
          <p:nvPr/>
        </p:nvCxnSpPr>
        <p:spPr>
          <a:xfrm flipH="1">
            <a:off x="9055223" y="3027286"/>
            <a:ext cx="452761" cy="577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B4CF4C6-5859-4C19-84F9-4E3A3D7D9FB3}"/>
              </a:ext>
            </a:extLst>
          </p:cNvPr>
          <p:cNvCxnSpPr/>
          <p:nvPr/>
        </p:nvCxnSpPr>
        <p:spPr>
          <a:xfrm>
            <a:off x="7989903" y="3027286"/>
            <a:ext cx="594804" cy="6569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980118B-0EFB-44B0-AB05-046F7E84C580}"/>
              </a:ext>
            </a:extLst>
          </p:cNvPr>
          <p:cNvCxnSpPr/>
          <p:nvPr/>
        </p:nvCxnSpPr>
        <p:spPr>
          <a:xfrm>
            <a:off x="8664606" y="3799643"/>
            <a:ext cx="0" cy="5592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7D3A47F7-1474-40B3-9CC2-8196A956D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53" y="5416840"/>
            <a:ext cx="6250221" cy="1247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54570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C7BB5-DED5-4D0D-892C-C9DF32C02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 Graphs – Inference (Sum-Product Message Passing)</a:t>
            </a:r>
            <a:endParaRPr lang="en-CA" dirty="0"/>
          </a:p>
        </p:txBody>
      </p:sp>
      <p:graphicFrame>
        <p:nvGraphicFramePr>
          <p:cNvPr id="10" name="Table 11">
            <a:extLst>
              <a:ext uri="{FF2B5EF4-FFF2-40B4-BE49-F238E27FC236}">
                <a16:creationId xmlns:a16="http://schemas.microsoft.com/office/drawing/2014/main" id="{E1E21925-DF13-4FE2-9879-5BED4B3DD56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1" y="1825625"/>
          <a:ext cx="544719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5730">
                  <a:extLst>
                    <a:ext uri="{9D8B030D-6E8A-4147-A177-3AD203B41FA5}">
                      <a16:colId xmlns:a16="http://schemas.microsoft.com/office/drawing/2014/main" val="618452252"/>
                    </a:ext>
                  </a:extLst>
                </a:gridCol>
                <a:gridCol w="1815730">
                  <a:extLst>
                    <a:ext uri="{9D8B030D-6E8A-4147-A177-3AD203B41FA5}">
                      <a16:colId xmlns:a16="http://schemas.microsoft.com/office/drawing/2014/main" val="356077513"/>
                    </a:ext>
                  </a:extLst>
                </a:gridCol>
                <a:gridCol w="1815730">
                  <a:extLst>
                    <a:ext uri="{9D8B030D-6E8A-4147-A177-3AD203B41FA5}">
                      <a16:colId xmlns:a16="http://schemas.microsoft.com/office/drawing/2014/main" val="14668904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/>
                        <a:t>x</a:t>
                      </a:r>
                      <a:r>
                        <a:rPr lang="en-CA" baseline="-25000" dirty="0"/>
                        <a:t>0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x</a:t>
                      </a:r>
                      <a:r>
                        <a:rPr lang="en-CA" baseline="-25000" dirty="0"/>
                        <a:t>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x</a:t>
                      </a:r>
                      <a:r>
                        <a:rPr lang="en-CA" baseline="-25000" dirty="0"/>
                        <a:t>2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5895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 </a:t>
                      </a:r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(0.8*0.9)</a:t>
                      </a:r>
                      <a:endParaRPr lang="en-CA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 </a:t>
                      </a:r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(0.9)</a:t>
                      </a:r>
                      <a:endParaRPr lang="en-CA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 </a:t>
                      </a:r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(0.8)</a:t>
                      </a:r>
                      <a:endParaRPr lang="en-CA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655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CA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CA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8476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CA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CA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836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 </a:t>
                      </a:r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(0.2*0.1)</a:t>
                      </a:r>
                      <a:endParaRPr lang="en-CA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</a:t>
                      </a:r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(0.1)</a:t>
                      </a:r>
                      <a:endParaRPr lang="en-CA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</a:t>
                      </a:r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(0.2)</a:t>
                      </a:r>
                      <a:endParaRPr lang="en-CA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8458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CA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CA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477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 </a:t>
                      </a:r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(0.9*0.2)</a:t>
                      </a:r>
                      <a:endParaRPr lang="en-CA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 </a:t>
                      </a:r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(0.9)</a:t>
                      </a:r>
                      <a:endParaRPr lang="en-CA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</a:t>
                      </a:r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(0.2)</a:t>
                      </a:r>
                      <a:endParaRPr lang="en-CA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135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 </a:t>
                      </a:r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(0.1*0.8)</a:t>
                      </a:r>
                      <a:endParaRPr lang="en-CA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</a:t>
                      </a:r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(0.1)</a:t>
                      </a:r>
                      <a:endParaRPr lang="en-CA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 </a:t>
                      </a:r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(0.8)</a:t>
                      </a:r>
                      <a:endParaRPr lang="en-CA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816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867781"/>
                  </a:ext>
                </a:extLst>
              </a:tr>
            </a:tbl>
          </a:graphicData>
        </a:graphic>
      </p:graphicFrame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14785AC2-6606-45CB-9EEF-F182CEA57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374" y="1825625"/>
            <a:ext cx="4587763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7120D6-B12F-4C85-8A00-451A4C15D96F}"/>
              </a:ext>
            </a:extLst>
          </p:cNvPr>
          <p:cNvSpPr txBox="1"/>
          <p:nvPr/>
        </p:nvSpPr>
        <p:spPr>
          <a:xfrm>
            <a:off x="4987864" y="1441160"/>
            <a:ext cx="305467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CA" dirty="0"/>
              <a:t>0.8, 0.1, 0.2, 0.7, 0.3, 1.2, 0.4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E42B7CA-369C-44EC-8BE4-7B72598BABD9}"/>
              </a:ext>
            </a:extLst>
          </p:cNvPr>
          <p:cNvCxnSpPr/>
          <p:nvPr/>
        </p:nvCxnSpPr>
        <p:spPr>
          <a:xfrm>
            <a:off x="9632725" y="2245507"/>
            <a:ext cx="0" cy="6158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353A59D-91B2-4385-8AF9-5D5C8DE53558}"/>
              </a:ext>
            </a:extLst>
          </p:cNvPr>
          <p:cNvCxnSpPr/>
          <p:nvPr/>
        </p:nvCxnSpPr>
        <p:spPr>
          <a:xfrm>
            <a:off x="7867548" y="2305778"/>
            <a:ext cx="0" cy="6158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1AE00A9-E9F9-4525-97F8-425E28511B87}"/>
              </a:ext>
            </a:extLst>
          </p:cNvPr>
          <p:cNvCxnSpPr/>
          <p:nvPr/>
        </p:nvCxnSpPr>
        <p:spPr>
          <a:xfrm flipH="1">
            <a:off x="9055223" y="3027286"/>
            <a:ext cx="452761" cy="577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B4CF4C6-5859-4C19-84F9-4E3A3D7D9FB3}"/>
              </a:ext>
            </a:extLst>
          </p:cNvPr>
          <p:cNvCxnSpPr/>
          <p:nvPr/>
        </p:nvCxnSpPr>
        <p:spPr>
          <a:xfrm>
            <a:off x="7989903" y="3027286"/>
            <a:ext cx="594804" cy="6569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980118B-0EFB-44B0-AB05-046F7E84C580}"/>
              </a:ext>
            </a:extLst>
          </p:cNvPr>
          <p:cNvCxnSpPr/>
          <p:nvPr/>
        </p:nvCxnSpPr>
        <p:spPr>
          <a:xfrm>
            <a:off x="8664606" y="3799643"/>
            <a:ext cx="0" cy="5592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7D3A47F7-1474-40B3-9CC2-8196A956D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53" y="5416840"/>
            <a:ext cx="6250221" cy="1247334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F57FD51-497B-4CF1-985C-42FB3FD96E8E}"/>
              </a:ext>
            </a:extLst>
          </p:cNvPr>
          <p:cNvCxnSpPr/>
          <p:nvPr/>
        </p:nvCxnSpPr>
        <p:spPr>
          <a:xfrm flipV="1">
            <a:off x="745724" y="2370338"/>
            <a:ext cx="745725" cy="1953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0E93E3D-088D-42EB-9A71-D6F5FF726F97}"/>
              </a:ext>
            </a:extLst>
          </p:cNvPr>
          <p:cNvSpPr txBox="1"/>
          <p:nvPr/>
        </p:nvSpPr>
        <p:spPr>
          <a:xfrm>
            <a:off x="-54242" y="2380981"/>
            <a:ext cx="958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Product</a:t>
            </a:r>
            <a:endParaRPr lang="en-CA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E3D80C-01FB-44BE-9A56-ADC8317EB3A1}"/>
              </a:ext>
            </a:extLst>
          </p:cNvPr>
          <p:cNvSpPr txBox="1"/>
          <p:nvPr/>
        </p:nvSpPr>
        <p:spPr>
          <a:xfrm>
            <a:off x="0" y="4296792"/>
            <a:ext cx="648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Sum</a:t>
            </a:r>
            <a:endParaRPr lang="en-CA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A6F1DA2-907E-4217-8171-D192BC19AC6C}"/>
              </a:ext>
            </a:extLst>
          </p:cNvPr>
          <p:cNvCxnSpPr>
            <a:stCxn id="14" idx="3"/>
          </p:cNvCxnSpPr>
          <p:nvPr/>
        </p:nvCxnSpPr>
        <p:spPr>
          <a:xfrm flipV="1">
            <a:off x="648070" y="4296792"/>
            <a:ext cx="310719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0FD2742-6048-4ED6-AFC3-AACCCF9884F0}"/>
              </a:ext>
            </a:extLst>
          </p:cNvPr>
          <p:cNvCxnSpPr>
            <a:stCxn id="14" idx="3"/>
          </p:cNvCxnSpPr>
          <p:nvPr/>
        </p:nvCxnSpPr>
        <p:spPr>
          <a:xfrm>
            <a:off x="648070" y="4481458"/>
            <a:ext cx="310719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AEBAE14-5D22-4496-B484-AA256D9F1E76}"/>
              </a:ext>
            </a:extLst>
          </p:cNvPr>
          <p:cNvCxnSpPr/>
          <p:nvPr/>
        </p:nvCxnSpPr>
        <p:spPr>
          <a:xfrm flipV="1">
            <a:off x="8287305" y="4573791"/>
            <a:ext cx="492711" cy="3799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ED9D799-9CD9-42D0-83D9-4792BE378BF3}"/>
              </a:ext>
            </a:extLst>
          </p:cNvPr>
          <p:cNvCxnSpPr/>
          <p:nvPr/>
        </p:nvCxnSpPr>
        <p:spPr>
          <a:xfrm flipH="1" flipV="1">
            <a:off x="8884916" y="4573791"/>
            <a:ext cx="396687" cy="3121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404836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F5F53-2024-4C90-8E47-1E940830C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Incident Scoring</a:t>
            </a:r>
            <a:endParaRPr lang="en-C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42CED1D-BBE0-4BF8-BDBB-98099307664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8" name="Content Placeholder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D88F556A-FA33-4970-A187-D217762CC8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825625"/>
            <a:ext cx="5181600" cy="4351338"/>
          </a:xfr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3ACBBE3-E622-4BB0-9DF6-089F96E27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25625"/>
            <a:ext cx="4587763" cy="4351338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FB79B24-8410-4114-8CD8-20A5DE6250AD}"/>
              </a:ext>
            </a:extLst>
          </p:cNvPr>
          <p:cNvCxnSpPr/>
          <p:nvPr/>
        </p:nvCxnSpPr>
        <p:spPr>
          <a:xfrm flipH="1">
            <a:off x="3704253" y="2108718"/>
            <a:ext cx="8677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7C6BC67-C52F-4976-B2D9-0F8A2F7B53F5}"/>
              </a:ext>
            </a:extLst>
          </p:cNvPr>
          <p:cNvSpPr txBox="1"/>
          <p:nvPr/>
        </p:nvSpPr>
        <p:spPr>
          <a:xfrm>
            <a:off x="4660777" y="1825625"/>
            <a:ext cx="2105262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Factor nodes representing observations</a:t>
            </a:r>
          </a:p>
          <a:p>
            <a:r>
              <a:rPr lang="en-US" dirty="0"/>
              <a:t> = Alerts with scores</a:t>
            </a:r>
            <a:endParaRPr lang="en-CA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6AD28DC-45DF-4B7E-9ADC-4806A008DC7D}"/>
              </a:ext>
            </a:extLst>
          </p:cNvPr>
          <p:cNvCxnSpPr/>
          <p:nvPr/>
        </p:nvCxnSpPr>
        <p:spPr>
          <a:xfrm>
            <a:off x="6766039" y="2246050"/>
            <a:ext cx="2839600" cy="502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F5EFA2D-D268-46EF-8FFB-1EA872AD63F6}"/>
              </a:ext>
            </a:extLst>
          </p:cNvPr>
          <p:cNvSpPr txBox="1"/>
          <p:nvPr/>
        </p:nvSpPr>
        <p:spPr>
          <a:xfrm>
            <a:off x="4660777" y="3222594"/>
            <a:ext cx="2645545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Factor Nodes representing Code Design</a:t>
            </a:r>
          </a:p>
          <a:p>
            <a:r>
              <a:rPr lang="en-US" dirty="0"/>
              <a:t> = Transition matrix, probabilities</a:t>
            </a:r>
            <a:endParaRPr lang="en-CA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B491165-0743-42C1-A727-E5DFA74E94B3}"/>
              </a:ext>
            </a:extLst>
          </p:cNvPr>
          <p:cNvCxnSpPr/>
          <p:nvPr/>
        </p:nvCxnSpPr>
        <p:spPr>
          <a:xfrm flipH="1" flipV="1">
            <a:off x="3133817" y="3499594"/>
            <a:ext cx="1526960" cy="3324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6AF9DD0-805D-448E-98E1-5772A79EEC37}"/>
              </a:ext>
            </a:extLst>
          </p:cNvPr>
          <p:cNvCxnSpPr>
            <a:stCxn id="14" idx="3"/>
          </p:cNvCxnSpPr>
          <p:nvPr/>
        </p:nvCxnSpPr>
        <p:spPr>
          <a:xfrm>
            <a:off x="7306322" y="3822759"/>
            <a:ext cx="2068497" cy="4829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385852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F296848-BDA8-4661-810B-08176F75F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Incident Scoring</a:t>
            </a:r>
            <a:endParaRPr lang="en-CA" dirty="0"/>
          </a:p>
        </p:txBody>
      </p:sp>
      <p:pic>
        <p:nvPicPr>
          <p:cNvPr id="7" name="Content Placeholder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778AFFF6-783A-4E05-B135-DCD9228D2B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04" y="1825625"/>
            <a:ext cx="10412963" cy="4667250"/>
          </a:xfr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AE060B9-FED8-40B3-A5D1-6A4A39704BE9}"/>
              </a:ext>
            </a:extLst>
          </p:cNvPr>
          <p:cNvCxnSpPr/>
          <p:nvPr/>
        </p:nvCxnSpPr>
        <p:spPr>
          <a:xfrm flipH="1">
            <a:off x="4180114" y="3564294"/>
            <a:ext cx="2286000" cy="8770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4DAEB4C-9B63-4F9E-94EF-3E6D66E4BAAA}"/>
              </a:ext>
            </a:extLst>
          </p:cNvPr>
          <p:cNvSpPr txBox="1"/>
          <p:nvPr/>
        </p:nvSpPr>
        <p:spPr>
          <a:xfrm>
            <a:off x="3693110" y="2648017"/>
            <a:ext cx="2689934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Alert x is indicating there is an 80% chance Phase A is active</a:t>
            </a:r>
            <a:endParaRPr lang="en-CA" dirty="0"/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03095CC2-C72C-4210-94E4-EB0B57827659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33243" y="4202096"/>
            <a:ext cx="763479" cy="43796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412288E-CC4A-4423-B147-3B6CD04122CC}"/>
              </a:ext>
            </a:extLst>
          </p:cNvPr>
          <p:cNvSpPr txBox="1"/>
          <p:nvPr/>
        </p:nvSpPr>
        <p:spPr>
          <a:xfrm>
            <a:off x="4333782" y="4864685"/>
            <a:ext cx="2689934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We know that Phase A is very likely to be followed by Phase B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4286060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02948-F857-4458-92C4-EA4FF6F60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Learnable Factors</a:t>
            </a:r>
            <a:endParaRPr lang="en-C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9A437B8-578A-4B57-8997-709D4EAFE0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6490" y="1461731"/>
            <a:ext cx="7259216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65B7EF-293F-4E99-981A-EC5DA19A44E7}"/>
              </a:ext>
            </a:extLst>
          </p:cNvPr>
          <p:cNvSpPr txBox="1"/>
          <p:nvPr/>
        </p:nvSpPr>
        <p:spPr>
          <a:xfrm>
            <a:off x="8378890" y="1558212"/>
            <a:ext cx="23606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Cao, “On Preempting Advanced Persistent Threats Using</a:t>
            </a:r>
          </a:p>
          <a:p>
            <a:r>
              <a:rPr lang="en-CA" dirty="0"/>
              <a:t>Probabilistic Graphical Models”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409AB1-9224-4B94-BE67-E3D2A36C8CC1}"/>
              </a:ext>
            </a:extLst>
          </p:cNvPr>
          <p:cNvSpPr txBox="1"/>
          <p:nvPr/>
        </p:nvSpPr>
        <p:spPr>
          <a:xfrm>
            <a:off x="5822302" y="1461731"/>
            <a:ext cx="166084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Score of alerts</a:t>
            </a:r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F0461E-3E9C-496A-BEB1-6972FA23503C}"/>
              </a:ext>
            </a:extLst>
          </p:cNvPr>
          <p:cNvSpPr txBox="1"/>
          <p:nvPr/>
        </p:nvSpPr>
        <p:spPr>
          <a:xfrm>
            <a:off x="7572652" y="4350058"/>
            <a:ext cx="1908699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Causality of 2 alerts</a:t>
            </a:r>
            <a:endParaRPr lang="en-C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2C21EE-D43C-49F0-BA51-73A63BC72CF7}"/>
              </a:ext>
            </a:extLst>
          </p:cNvPr>
          <p:cNvSpPr txBox="1"/>
          <p:nvPr/>
        </p:nvSpPr>
        <p:spPr>
          <a:xfrm>
            <a:off x="8558074" y="3035540"/>
            <a:ext cx="2795726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Needs a dataset of attacks, extremely rare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1313085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A484560-FD89-42CC-98B4-0476A505E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User Interaction and Active Learning</a:t>
            </a:r>
            <a:endParaRPr lang="en-CA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1AFABE-3E48-4499-BE50-55BB6635E2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578313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EBAF4-1302-48B4-98E7-171657BE1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Active-Learning and IP2Vec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2C832-9533-4FC7-A12D-D87F7D09A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E54507D-0C0D-40F7-8608-D99963626CDF}"/>
              </a:ext>
            </a:extLst>
          </p:cNvPr>
          <p:cNvSpPr/>
          <p:nvPr/>
        </p:nvSpPr>
        <p:spPr>
          <a:xfrm>
            <a:off x="3035431" y="3223967"/>
            <a:ext cx="4666268" cy="173453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Enterprise</a:t>
            </a:r>
            <a:endParaRPr lang="en-CA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71EAB39-AE2B-4719-8F92-8EEBF7D17BAA}"/>
              </a:ext>
            </a:extLst>
          </p:cNvPr>
          <p:cNvSpPr/>
          <p:nvPr/>
        </p:nvSpPr>
        <p:spPr>
          <a:xfrm>
            <a:off x="4647414" y="1569514"/>
            <a:ext cx="1951349" cy="955282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AWS</a:t>
            </a:r>
            <a:endParaRPr lang="en-CA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217A7F0-1F09-4E4F-A1C0-52281994C28A}"/>
              </a:ext>
            </a:extLst>
          </p:cNvPr>
          <p:cNvSpPr/>
          <p:nvPr/>
        </p:nvSpPr>
        <p:spPr>
          <a:xfrm>
            <a:off x="838200" y="1690688"/>
            <a:ext cx="1951349" cy="95528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Azure</a:t>
            </a:r>
            <a:endParaRPr lang="en-CA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2E64C775-FCBB-420C-8EFA-2153F34048FE}"/>
              </a:ext>
            </a:extLst>
          </p:cNvPr>
          <p:cNvSpPr/>
          <p:nvPr/>
        </p:nvSpPr>
        <p:spPr>
          <a:xfrm rot="10800000">
            <a:off x="2789548" y="2645970"/>
            <a:ext cx="2073897" cy="3517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65049D-12D3-4639-85F2-1BC4A06EF7BD}"/>
              </a:ext>
            </a:extLst>
          </p:cNvPr>
          <p:cNvSpPr txBox="1"/>
          <p:nvPr/>
        </p:nvSpPr>
        <p:spPr>
          <a:xfrm>
            <a:off x="8050491" y="1690688"/>
            <a:ext cx="363874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Enterprise migrates to a new cloud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Suddenly, lots of traffic to new IPs, looks like data </a:t>
            </a:r>
            <a:r>
              <a:rPr lang="en-US" dirty="0" err="1"/>
              <a:t>exfilteration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Potentially hundreds or even thousands of alerts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Analyst needs to whitelist them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2510985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E98D9-8895-4FD7-80E4-5E0CA276B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Alert Similarity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D6F34-9EEF-4615-ACAC-19A2935FCC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0CFFF7-9BF8-4296-ABA7-CE06689D28B5}"/>
              </a:ext>
            </a:extLst>
          </p:cNvPr>
          <p:cNvSpPr/>
          <p:nvPr/>
        </p:nvSpPr>
        <p:spPr>
          <a:xfrm>
            <a:off x="838200" y="2045617"/>
            <a:ext cx="4638773" cy="161198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Alert A</a:t>
            </a:r>
            <a:endParaRPr lang="en-CA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AFB8C6-B4A1-4CC0-8424-A8014A7666ED}"/>
              </a:ext>
            </a:extLst>
          </p:cNvPr>
          <p:cNvSpPr/>
          <p:nvPr/>
        </p:nvSpPr>
        <p:spPr>
          <a:xfrm>
            <a:off x="1159497" y="3157979"/>
            <a:ext cx="1470581" cy="4147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IP</a:t>
            </a:r>
            <a:endParaRPr lang="en-CA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3CA8C4-FEB9-4242-A770-0F3A0BD7A613}"/>
              </a:ext>
            </a:extLst>
          </p:cNvPr>
          <p:cNvSpPr/>
          <p:nvPr/>
        </p:nvSpPr>
        <p:spPr>
          <a:xfrm>
            <a:off x="838200" y="4413316"/>
            <a:ext cx="4638773" cy="161198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Alert B</a:t>
            </a:r>
            <a:endParaRPr lang="en-CA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14D712-66E6-448D-AC75-A2625A1ACCC4}"/>
              </a:ext>
            </a:extLst>
          </p:cNvPr>
          <p:cNvSpPr/>
          <p:nvPr/>
        </p:nvSpPr>
        <p:spPr>
          <a:xfrm>
            <a:off x="1159497" y="4562573"/>
            <a:ext cx="1470581" cy="4147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IP</a:t>
            </a:r>
            <a:endParaRPr lang="en-CA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007360D-14EC-4BDF-B55C-A2B1823982E5}"/>
              </a:ext>
            </a:extLst>
          </p:cNvPr>
          <p:cNvCxnSpPr>
            <a:stCxn id="5" idx="2"/>
            <a:endCxn id="8" idx="0"/>
          </p:cNvCxnSpPr>
          <p:nvPr/>
        </p:nvCxnSpPr>
        <p:spPr>
          <a:xfrm>
            <a:off x="1894788" y="3572759"/>
            <a:ext cx="0" cy="98981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6FDC0E7-1EAA-4F1F-B360-529159D484EE}"/>
              </a:ext>
            </a:extLst>
          </p:cNvPr>
          <p:cNvSpPr txBox="1"/>
          <p:nvPr/>
        </p:nvSpPr>
        <p:spPr>
          <a:xfrm>
            <a:off x="6268825" y="2045617"/>
            <a:ext cx="3148551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Alert Similarity determined their attributes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do you measure similarity between 2 IPs ?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4801931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1A72B-7B0E-4315-AB39-847EF39B8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Similarity</a:t>
            </a:r>
            <a:endParaRPr lang="en-C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C99CE86-2DB6-403C-8D13-53BFD7B213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8998" y="1896877"/>
            <a:ext cx="5846552" cy="42088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2D68FC-A70B-489D-947E-E9A2FA53A49F}"/>
              </a:ext>
            </a:extLst>
          </p:cNvPr>
          <p:cNvSpPr txBox="1"/>
          <p:nvPr/>
        </p:nvSpPr>
        <p:spPr>
          <a:xfrm>
            <a:off x="7801583" y="1690688"/>
            <a:ext cx="270428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Manually designed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Need new tree for each kind of attribute, e.g. </a:t>
            </a:r>
            <a:r>
              <a:rPr lang="en-US" dirty="0" err="1"/>
              <a:t>prt</a:t>
            </a:r>
            <a:r>
              <a:rPr lang="en-US" dirty="0"/>
              <a:t>, protocol, … </a:t>
            </a:r>
            <a:r>
              <a:rPr lang="en-US" dirty="0" err="1"/>
              <a:t>etc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Solution: IP2Vec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3537144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08ACC-E488-49B7-BBF8-F1B5F51EB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IP2Vec</a:t>
            </a:r>
            <a:endParaRPr lang="en-C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D9D4498-6004-475B-8C76-01FDA7B9B7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3427" y="1556426"/>
            <a:ext cx="5511730" cy="46399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E353B84-338E-4771-9ABE-D6A5C762FDA1}"/>
              </a:ext>
            </a:extLst>
          </p:cNvPr>
          <p:cNvSpPr txBox="1"/>
          <p:nvPr/>
        </p:nvSpPr>
        <p:spPr>
          <a:xfrm>
            <a:off x="7461115" y="1556426"/>
            <a:ext cx="252919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Very similar to word2vec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Train a NN to get a vector representation for categorical network quantities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Easily extendible to IPs, Ports, protocols, … </a:t>
            </a:r>
            <a:r>
              <a:rPr lang="en-US" dirty="0" err="1"/>
              <a:t>etc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1552831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C1E74-F343-4829-BD37-9111A4210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Microsoft IPs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BC2B5-1AD7-4A28-AC7B-423D36C1E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Burr, Wang, Salmon, Soliman, “</a:t>
            </a:r>
            <a:r>
              <a:rPr lang="en-US" dirty="0"/>
              <a:t>On the Detection of Persistent Attacks using Alert Graphs and Event Feature Embeddings</a:t>
            </a:r>
            <a:r>
              <a:rPr lang="en-CA" dirty="0"/>
              <a:t>”, </a:t>
            </a:r>
            <a:r>
              <a:rPr lang="en-CA" dirty="0" err="1"/>
              <a:t>GraSec</a:t>
            </a:r>
            <a:r>
              <a:rPr lang="en-CA" dirty="0"/>
              <a:t> 2020</a:t>
            </a:r>
          </a:p>
        </p:txBody>
      </p:sp>
    </p:spTree>
    <p:extLst>
      <p:ext uri="{BB962C8B-B14F-4D97-AF65-F5344CB8AC3E}">
        <p14:creationId xmlns:p14="http://schemas.microsoft.com/office/powerpoint/2010/main" val="304748385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95FEA-F799-42CC-8C29-9F8791009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do more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8801F-1FF0-457C-85AE-4716CA271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server rule:</a:t>
            </a:r>
          </a:p>
          <a:p>
            <a:pPr lvl="1"/>
            <a:r>
              <a:rPr lang="en-US" dirty="0"/>
              <a:t>For example, an analyst whitelists DNS server, embeddings knows port 53 is very related, so all DNS traffic can be whitelisted.</a:t>
            </a:r>
          </a:p>
          <a:p>
            <a:r>
              <a:rPr lang="en-US" dirty="0"/>
              <a:t>Different subnets:</a:t>
            </a:r>
          </a:p>
          <a:p>
            <a:pPr lvl="1"/>
            <a:r>
              <a:rPr lang="en-US" dirty="0"/>
              <a:t>Visitor IPs subnet is different from the core machines subnet, subnets show as clusters in the embedding.</a:t>
            </a:r>
          </a:p>
          <a:p>
            <a:r>
              <a:rPr lang="en-US" dirty="0"/>
              <a:t>For easy experiments:</a:t>
            </a:r>
          </a:p>
          <a:p>
            <a:pPr lvl="1"/>
            <a:r>
              <a:rPr lang="en-US" dirty="0"/>
              <a:t>Download any network logs dataset</a:t>
            </a:r>
          </a:p>
          <a:p>
            <a:pPr lvl="1"/>
            <a:r>
              <a:rPr lang="en-US" dirty="0"/>
              <a:t>Feed to star-space https://github.com/facebookresearch/StarSpace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3621584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189A4-A798-4919-94FD-ADEB7B112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step further: GAT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C831B-B701-4E9E-B02E-D1E330352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Beyond log data, Graph Attention Networks (GAT) can leverage the graph structure for better embeddings</a:t>
            </a:r>
          </a:p>
          <a:p>
            <a:pPr marL="457200" lvl="1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Inductive vs </a:t>
            </a:r>
            <a:r>
              <a:rPr lang="en-US" alt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transductive</a:t>
            </a:r>
            <a:r>
              <a:rPr lang="en-US" alt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en-US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inductive approaches can embed unseen nodes, a feature we need for constantly changing networks "Inductive Representation Learning on Large Graphs". </a:t>
            </a:r>
          </a:p>
          <a:p>
            <a:pPr marL="457200" lvl="1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Edge attributes: </a:t>
            </a:r>
            <a:r>
              <a:rPr lang="en-US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edge information (protocol, byte count, ...) are as important as node attributes. "Exploiting Edge Features in Graph Neural Networks" </a:t>
            </a:r>
          </a:p>
          <a:p>
            <a:pPr marL="457200" lvl="1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Dynamic graphs: </a:t>
            </a:r>
            <a:r>
              <a:rPr lang="en-US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how the embeddings should handle the changes in the graph "</a:t>
            </a:r>
            <a:r>
              <a:rPr lang="en-US" alt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DynGEM</a:t>
            </a:r>
            <a:r>
              <a:rPr lang="en-US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: Deep Embedding Method for Dynamic Graphs" </a:t>
            </a:r>
          </a:p>
          <a:p>
            <a:pPr marL="457200" lvl="1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Anomaly detection: </a:t>
            </a:r>
            <a:r>
              <a:rPr lang="en-US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maybe using auto-encoder based architectures to detect anomalous changes "Graph Attention Auto-Encoders"</a:t>
            </a:r>
            <a:endParaRPr lang="en-US" altLang="en-US" sz="5000" dirty="0">
              <a:latin typeface="Arial" panose="020B0604020202020204" pitchFamily="34" charset="0"/>
            </a:endParaRPr>
          </a:p>
          <a:p>
            <a:endParaRPr lang="en-US" dirty="0"/>
          </a:p>
          <a:p>
            <a:r>
              <a:rPr lang="en-US" dirty="0"/>
              <a:t>Very good for alert correlation, but not good enough for alert causality.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4247469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021C5-82B1-4754-ADFF-5C6C9705B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64E06-8E74-4ADC-88D8-D151E84B8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then anomaly detection:</a:t>
            </a:r>
          </a:p>
          <a:p>
            <a:pPr lvl="1"/>
            <a:r>
              <a:rPr lang="en-US" dirty="0" err="1"/>
              <a:t>Explainability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root-cause.</a:t>
            </a:r>
          </a:p>
          <a:p>
            <a:pPr lvl="1"/>
            <a:r>
              <a:rPr lang="en-US" dirty="0"/>
              <a:t>Incidents and Alert Correlation.</a:t>
            </a:r>
          </a:p>
          <a:p>
            <a:pPr lvl="1"/>
            <a:r>
              <a:rPr lang="en-US" dirty="0"/>
              <a:t>Causality.</a:t>
            </a:r>
          </a:p>
          <a:p>
            <a:r>
              <a:rPr lang="en-US" dirty="0"/>
              <a:t>Probabilistic Graphical Models for incident detection knowing the typical attack structure</a:t>
            </a:r>
          </a:p>
          <a:p>
            <a:r>
              <a:rPr lang="en-US" dirty="0"/>
              <a:t>DL/NLP for categorical feature embedding, similarity measures.</a:t>
            </a:r>
          </a:p>
          <a:p>
            <a:r>
              <a:rPr lang="en-US" dirty="0"/>
              <a:t>Questions, ideas: </a:t>
            </a:r>
            <a:r>
              <a:rPr lang="en-US" i="1" dirty="0"/>
              <a:t>hazem.soliman115@gmail.com</a:t>
            </a:r>
            <a:endParaRPr lang="en-CA" i="1" dirty="0"/>
          </a:p>
        </p:txBody>
      </p:sp>
    </p:spTree>
    <p:extLst>
      <p:ext uri="{BB962C8B-B14F-4D97-AF65-F5344CB8AC3E}">
        <p14:creationId xmlns:p14="http://schemas.microsoft.com/office/powerpoint/2010/main" val="726573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5606</TotalTime>
  <Words>2180</Words>
  <Application>Microsoft Office PowerPoint</Application>
  <PresentationFormat>Widescreen</PresentationFormat>
  <Paragraphs>447</Paragraphs>
  <Slides>64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0" baseType="lpstr">
      <vt:lpstr>Arial</vt:lpstr>
      <vt:lpstr>Arial Unicode MS</vt:lpstr>
      <vt:lpstr>Calibri</vt:lpstr>
      <vt:lpstr>Calibri Light</vt:lpstr>
      <vt:lpstr>Segoe UI</vt:lpstr>
      <vt:lpstr>Office Theme</vt:lpstr>
      <vt:lpstr>ML Applications in Network Operations &amp; Security</vt:lpstr>
      <vt:lpstr>Speaker</vt:lpstr>
      <vt:lpstr>Outline</vt:lpstr>
      <vt:lpstr>Target</vt:lpstr>
      <vt:lpstr>NoC (Network Operations Center)</vt:lpstr>
      <vt:lpstr>Failure</vt:lpstr>
      <vt:lpstr>Silent Failure</vt:lpstr>
      <vt:lpstr>Silent Failure – Explain and Cause</vt:lpstr>
      <vt:lpstr>Failure</vt:lpstr>
      <vt:lpstr>BGP Hijack</vt:lpstr>
      <vt:lpstr>Possible Outcomes</vt:lpstr>
      <vt:lpstr>SoC (Security Operations Center) Advanced Persistent Threats (APT)</vt:lpstr>
      <vt:lpstr>Mitre Att&amp;ck &amp; Cyber Kill-Chain</vt:lpstr>
      <vt:lpstr>Incident Detection</vt:lpstr>
      <vt:lpstr>Possible Outcomes</vt:lpstr>
      <vt:lpstr>Example – DARPA dataset</vt:lpstr>
      <vt:lpstr>Example Incidents</vt:lpstr>
      <vt:lpstr>StuxNet</vt:lpstr>
      <vt:lpstr>APT1</vt:lpstr>
      <vt:lpstr>Summary</vt:lpstr>
      <vt:lpstr>End Point Agents – Adversarial Machine Learning</vt:lpstr>
      <vt:lpstr>Typical System Setup</vt:lpstr>
      <vt:lpstr>Typical System Setup</vt:lpstr>
      <vt:lpstr>Domain Challenges</vt:lpstr>
      <vt:lpstr>Examples</vt:lpstr>
      <vt:lpstr>Anomaly Detection ?!</vt:lpstr>
      <vt:lpstr>Anomaly Detection Steps</vt:lpstr>
      <vt:lpstr>Periodicity Detection for C2 Traffic</vt:lpstr>
      <vt:lpstr>C2 Detections</vt:lpstr>
      <vt:lpstr>PowerPoint Presentation</vt:lpstr>
      <vt:lpstr>PowerPoint Presentation</vt:lpstr>
      <vt:lpstr>Computation vs Accuracy</vt:lpstr>
      <vt:lpstr>Equalization (Major traffic contribution from Malware)</vt:lpstr>
      <vt:lpstr>Equalization (Minor traffic contribution from Malware)</vt:lpstr>
      <vt:lpstr>Equalization (Minor traffic contribution from Malware - Equalized)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Periodicity Detection</vt:lpstr>
      <vt:lpstr>Explainability and Future Work</vt:lpstr>
      <vt:lpstr>Root-Cause and Incident Detection</vt:lpstr>
      <vt:lpstr>Incident Detection and Factor Graphs</vt:lpstr>
      <vt:lpstr>Factor Graphs - Representation</vt:lpstr>
      <vt:lpstr>Factor Graphs – Inference (Sum-Product Message Passing)</vt:lpstr>
      <vt:lpstr>Factor Graphs – Inference (Sum-Product Message Passing)</vt:lpstr>
      <vt:lpstr>Factor Graphs – Inference (Sum-Product Message Passing)</vt:lpstr>
      <vt:lpstr>Factor Graphs – Inference (Sum-Product Message Passing)</vt:lpstr>
      <vt:lpstr>Incident Scoring</vt:lpstr>
      <vt:lpstr>Incident Scoring</vt:lpstr>
      <vt:lpstr>Learnable Factors</vt:lpstr>
      <vt:lpstr>User Interaction and Active Learning</vt:lpstr>
      <vt:lpstr>Active-Learning and IP2Vec</vt:lpstr>
      <vt:lpstr>Alert Similarity</vt:lpstr>
      <vt:lpstr>IP Similarity</vt:lpstr>
      <vt:lpstr>IP2Vec</vt:lpstr>
      <vt:lpstr>Example of Microsoft IPs</vt:lpstr>
      <vt:lpstr>Can do more</vt:lpstr>
      <vt:lpstr>One step further: GAT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Applications in Network Operations &amp; Security</dc:title>
  <dc:creator>hazem soliman</dc:creator>
  <cp:lastModifiedBy>hazem soliman</cp:lastModifiedBy>
  <cp:revision>173</cp:revision>
  <dcterms:created xsi:type="dcterms:W3CDTF">2020-04-15T21:51:50Z</dcterms:created>
  <dcterms:modified xsi:type="dcterms:W3CDTF">2020-04-22T17:45:02Z</dcterms:modified>
</cp:coreProperties>
</file>